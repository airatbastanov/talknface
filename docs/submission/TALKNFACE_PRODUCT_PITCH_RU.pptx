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2" r:id="rId2"/>
    <p:sldId id="263" r:id="rId3"/>
    <p:sldId id="264" r:id="rId4"/>
    <p:sldId id="273" r:id="rId5"/>
    <p:sldId id="272" r:id="rId6"/>
    <p:sldId id="269" r:id="rId7"/>
    <p:sldId id="271" r:id="rId8"/>
    <p:sldId id="266" r:id="rId9"/>
    <p:sldId id="281" r:id="rId10"/>
    <p:sldId id="267" r:id="rId11"/>
    <p:sldId id="282" r:id="rId12"/>
    <p:sldId id="279" r:id="rId13"/>
    <p:sldId id="283" r:id="rId14"/>
    <p:sldId id="268" r:id="rId15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71006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51067756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494483473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050160873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668201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443516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749290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7879331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85117366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424750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33962592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32800745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82147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3602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5141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2135795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3794024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1004669257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586078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869038104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756912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290265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568452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406403889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608934560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8886977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6661007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234947790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847968315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73491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470507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104822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3845723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286399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7183803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5672177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72346550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291517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08856075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02798103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13620977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578450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04129473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89478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627461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38331484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8797372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6535655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111820910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83850411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52701313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58086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214154087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8695467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27208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50310469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0275351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4466029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25663344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5132842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452090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152661371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6842016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4831545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3532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63698632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1152281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792695888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39493914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36002827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023102580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234549987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9740711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41068213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4452294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442631240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048663028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113199503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3277664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46555353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8058533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90894174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894757713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42886382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34350511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515773514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94102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121122052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2083705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072692296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24798854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35049125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16702249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00040240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71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8826036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0249342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69046191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038801440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59051201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5644103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0895940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87654405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146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64241657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2508180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3855011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5763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03267904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182947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726837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792285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873574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66654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148766850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706195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36604490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24307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2393209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72599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62008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341753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54152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473308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3516282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78494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8044292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5733450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853109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766176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286593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780686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300792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5867444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9298680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56087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07464350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69794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03536603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7389187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5978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3587419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00064058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5469350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58366598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3146947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98780880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62959875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670406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97728873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2415923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95493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39818873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00528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916529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335953280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46343401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476019451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76505562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808973598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40753350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46385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17675297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14238304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09242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049652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49657379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85753392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10027526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311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70620987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41654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2421902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2310987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41112265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654382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136102697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78375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86904333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0910054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19617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656875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346809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835980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04578040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025139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2010952786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404443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6450328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324759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8668512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838518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591886101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04367235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40730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236524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947142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66844318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5075550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119826026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841518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75674085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29318398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568584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8332607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3572676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87574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0715703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948200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139730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8080331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Relationship Id="rId5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19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.png"/><Relationship Id="rId5" Type="http://schemas.openxmlformats.org/officeDocument/2006/relationships/hyperlink" Target="https://github.com/AiratBastanov/TalkNFace/blob/docs/organizer-presentation-01/docs/ORGANIZER_LAUNCH_RU.md" TargetMode="External"/><Relationship Id="rId6" Type="http://schemas.openxmlformats.org/officeDocument/2006/relationships/hyperlink" Target="https://github.com/AiratBastanov/TalkNFace/blob/docs/organizer-presentation-01/docs/submission/README.md" TargetMode="External"/><Relationship Id="rId7" Type="http://schemas.openxmlformats.org/officeDocument/2006/relationships/hyperlink" Target="https://github.com/AiratBastanov/TalkNFace/blob/docs/organizer-presentation-01/docs/submission/TALKNFACE_PRODUCT_PITCH_RU.pdf" TargetMode="External"/><Relationship Id="rId8" Type="http://schemas.openxmlformats.org/officeDocument/2006/relationships/hyperlink" Target="https://github.com/AiratBastanov/TalkNFace/blob/docs/organizer-presentation-01/docs/DEMO_GUIDE_RU.md" TargetMode="External"/><Relationship Id="rId9" Type="http://schemas.openxmlformats.org/officeDocument/2006/relationships/hyperlink" Target="https://github.com/AiratBastanov/TalkNFace/blob/docs/organizer-presentation-01/docs/submission/PRODUCT_OVERVIEW_RU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813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 wrap="square"/>
          <a:lstStyle/>
          <a:p>
            <a:pPr marL="268288" indent="0">
              <a:defRPr/>
            </a:pPr>
            <a:r>
              <a:t>Ходоки</a:t>
            </a:r>
            <a:endParaRPr lang="ru-RU" sz="4800"/>
          </a:p>
        </p:txBody>
      </p:sp>
      <p:pic>
        <p:nvPicPr>
          <p:cNvPr id="1315845174" name="Рисунок 3" descr="alabuga-logo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 t="7737" b="7737"/>
          <a:stretch>
            <a:fillRect/>
          </a:stretch>
        </p:blipFill>
        <p:spPr/>
      </p:pic>
      <p:sp>
        <p:nvSpPr>
          <p:cNvPr id="1720058841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 wrap="square"/>
          <a:lstStyle/>
          <a:p>
            <a:pPr indent="268288">
              <a:defRPr/>
            </a:pPr>
            <a:r>
              <a:t>TalkNFace — «Арена переговоров»</a:t>
            </a:r>
            <a:endParaRPr lang="ru-RU"/>
          </a:p>
          <a:p>
            <a:pPr/>
            <a:r>
              <a:t>Кейс ЛЦТ 2026 · постановщик ОЭЗ «Алабуга»</a:t>
            </a:r>
          </a:p>
        </p:txBody>
      </p:sp>
      <p:sp>
        <p:nvSpPr>
          <p:cNvPr id="195705977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231833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98050432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370492063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rgbClr val="1C1D22"/>
                </a:solidFill>
              </a:rPr>
              <a:t>Разбор ссылается на сохранённый ход. Отказ не обнуляет процесс. Игрок выбирает действия, учебный движок считает исход.</a:t>
            </a:r>
            <a:endParaRPr/>
          </a:p>
        </p:txBody>
      </p:sp>
      <p:sp>
        <p:nvSpPr>
          <p:cNvPr id="16580894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Капитан: Бастанов Айрат Иршатович</a:t>
            </a:r>
            <a:r>
              <a:rPr lang="ru-RU">
                <a:solidFill>
                  <a:schemeClr val="tx1"/>
                </a:solidFill>
              </a:rPr>
              <a:t/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Специальность: автоматизация тестирования, машинное обучение, прикладное ПО</a:t>
            </a:r>
            <a:r>
              <a:rPr lang="ru-RU">
                <a:solidFill>
                  <a:schemeClr val="tx1"/>
                </a:solidFill>
              </a:rPr>
              <a:t/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Кол-во участников: 2 человека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rgbClr val="1C1D22"/>
                </a:solidFill>
              </a:rPr>
              <a:t>Как образовалась команда: давно знакомы друг с другом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rgbClr val="1C1D22"/>
                </a:solidFill>
              </a:rPr>
              <a:t>Место учёбы: КФУ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Название команды: Ходоки</a:t>
            </a:r>
            <a:endParaRPr/>
          </a:p>
        </p:txBody>
      </p:sp>
      <p:sp>
        <p:nvSpPr>
          <p:cNvPr id="2054149902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О команде</a:t>
            </a:r>
            <a:endParaRPr/>
          </a:p>
        </p:txBody>
      </p:sp>
      <p:sp>
        <p:nvSpPr>
          <p:cNvPr id="1101092512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093862858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45312675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4568528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21860617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Уникальность решения:</a:t>
            </a:r>
            <a:endParaRPr/>
          </a:p>
        </p:txBody>
      </p:sp>
      <p:sp>
        <p:nvSpPr>
          <p:cNvPr id="525179139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rgbClr val="1C1D22"/>
                </a:solidFill>
              </a:rPr>
              <a:t>Отрепетируйте сложный разговор до реальной встречи. Администратор настраивает ситуацию, игрок выбирает ходы, видит последствия и повторяет ту же версию иначе.</a:t>
            </a:r>
            <a:endParaRPr/>
          </a:p>
        </p:txBody>
      </p:sp>
      <p:sp>
        <p:nvSpPr>
          <p:cNvPr id="1310793419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2093862859" name="Picture 2093862858" descr="khodoki-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2289" y="335267"/>
            <a:ext cx="2971784" cy="297178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4803053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7595816" name="Текст 8"/>
          <p:cNvSpPr txBox="1"/>
          <p:nvPr/>
        </p:nvSpPr>
        <p:spPr bwMode="auto">
          <a:xfrm>
            <a:off x="2823678" y="4527374"/>
            <a:ext cx="1894354" cy="14173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Участник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КФУ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Автоматизация тестирования, машинное обучение, прикладное ПО</a:t>
            </a:r>
            <a:endParaRPr/>
          </a:p>
        </p:txBody>
      </p:sp>
      <p:sp>
        <p:nvSpPr>
          <p:cNvPr id="1096058170" name="Текст 8"/>
          <p:cNvSpPr txBox="1"/>
          <p:nvPr/>
        </p:nvSpPr>
        <p:spPr bwMode="auto">
          <a:xfrm>
            <a:off x="2823677" y="3622118"/>
            <a:ext cx="1722566" cy="8686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Садыков Булат Фаридович</a:t>
            </a:r>
            <a:endParaRPr/>
          </a:p>
        </p:txBody>
      </p:sp>
      <p:sp>
        <p:nvSpPr>
          <p:cNvPr id="1919697882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350290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809137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089116351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674652358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2034819892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Команда «Ходоки»</a:t>
            </a:r>
            <a:endParaRPr lang="ru-RU">
              <a:latin typeface="Montserrat"/>
            </a:endParaRPr>
          </a:p>
        </p:txBody>
      </p:sp>
      <p:sp>
        <p:nvSpPr>
          <p:cNvPr id="2066984242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527374"/>
            <a:ext cx="1894354" cy="1417320"/>
          </a:xfrm>
        </p:spPr>
        <p:txBody>
          <a:bodyPr wrap="square"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Капитан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КФУ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Автоматизация тестирования, машинное обучение, прикладное ПО</a:t>
            </a:r>
            <a:endParaRPr/>
          </a:p>
        </p:txBody>
      </p:sp>
      <p:sp>
        <p:nvSpPr>
          <p:cNvPr id="1868725851" name="Текст 8"/>
          <p:cNvSpPr txBox="1"/>
          <p:nvPr/>
        </p:nvSpPr>
        <p:spPr bwMode="auto">
          <a:xfrm>
            <a:off x="518359" y="3622118"/>
            <a:ext cx="1722566" cy="8686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Бастанов Айрат Иршатович</a:t>
            </a:r>
            <a:endParaRPr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182052" name="Скругленный прямоугольник 2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66035397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694308763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Приём ≠ выбор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624074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Знать интересы и пакет недостаточно, чтобы выбрать вопрос или уступку под давлением.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8954163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Лекция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051643315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Не создаёт этот выбор в момент сделки.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886093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Живой тренинг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9371985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Трудно повторить в том же составе, с теми же ставками.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919547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Игрок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8600038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Начинающий закупщик или руководитель. Ошибка без цены реальной сделки.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31973207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Администратор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240883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Задаёт шесть полей и публикует ситуацию. Чужие попытки и отчёты ему закрыты.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06901795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Наставник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86387787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Разбирает отчёт на экране игрока. Отдельного доступа к чужим попыткам нет.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5896582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ЗАЧЕМ ТРЕНАЖЁР</a:t>
            </a:r>
            <a:endParaRPr lang="ru-RU"/>
          </a:p>
        </p:txBody>
      </p:sp>
      <p:sp>
        <p:nvSpPr>
          <p:cNvPr id="103043882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13194045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7811205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47687233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27796003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814724498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637991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35691799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0720759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2491891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0698133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Настроить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9199938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Шесть полей: сфера, тема, сложность, тон, роль, цель. Недостижимая цель не публикуется. До 8 ходов; встреча может закончиться раньше.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2210822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Выбрать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204770809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Игрок без регистрации фиксирует цель и альтернативу, затем выбирает ход: вопрос, признание факта, довод, пакет, принятие, выход.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00744353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Разобрать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18176078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Исход сделки отдельно от процесса. Ссылка открывает сохранённый ход. «Повторить ту же ситуацию» создаёт новую попытку той же версии.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8773566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КАК ПРОХОДИТ ВСТРЕЧА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49153464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194912367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45080153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169583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59154379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016423863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Шесть полей администратора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513458112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Сфера · тема · сложность · тон · роль · цель.</a:t>
            </a:r>
            <a:endParaRPr lang="ru-RU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Сложность «обычная» держит до 8 ходов.</a:t>
            </a:r>
          </a:p>
          <a:p>
            <a:pPr/>
            <a:r>
              <a:rPr>
                <a:solidFill>
                  <a:srgbClr val="1C1D22"/>
                </a:solidFill>
              </a:rPr>
              <a:t>Недостижимая цель блокируется до публикации.</a:t>
            </a:r>
          </a:p>
          <a:p>
            <a:pPr/>
            <a:r>
              <a:rPr>
                <a:solidFill>
                  <a:srgbClr val="1C1D22"/>
                </a:solidFill>
              </a:rPr>
              <a:t>Справа — форма настройки. Это не живой показ «плановая / дружелюбный / маржа»: проверенная пара исходов на следующем слайде идёт по неизменённому эталону «Закупка к запуску».</a:t>
            </a:r>
          </a:p>
        </p:txBody>
      </p:sp>
      <p:pic>
        <p:nvPicPr>
          <p:cNvPr id="1564169584" name="Picture 1564169583" descr="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097280"/>
            <a:ext cx="5486400" cy="521208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1428086" name="Скругленный прямоугольник 9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0345354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84218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5906615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23047891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3721888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7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1776572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Закупка к запуску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457932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Промышленные закупки. Цена партии, график поставки, предоплата.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44775505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Срочная задача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5894144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Нагрузка команды. Объём, срок, помощник, перенос отчёта.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59826822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Граница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9167440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Третьей отрасли нет. Не каждая комбинация шести полей проходит проверку.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6351822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Баллы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03429037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Полезность описывает пакет в учебной модели. 100 процесса — применимые проверки записи, не компетенция человека.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997478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ДВЕ СЕМЬИ СЦЕНАРИЕВ</a:t>
            </a:r>
            <a:endParaRPr lang="ru-RU"/>
          </a:p>
        </p:txBody>
      </p:sp>
      <p:sp>
        <p:nvSpPr>
          <p:cNvPr id="33920081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S1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05878772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S2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56729640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66193093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7983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762536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2673551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68693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9954350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Неизменённый эталон «Закупка к запуску»: обычная сложность, нейтральный тон, директор продаж, оборотные средства.</a:t>
            </a:r>
            <a:endParaRPr/>
          </a:p>
          <a:p>
            <a:pPr/>
            <a:r>
              <a:rPr>
                <a:solidFill>
                  <a:srgbClr val="1C1D22"/>
                </a:solidFill>
              </a:rPr>
              <a:t>Вопрос про логистику → признание экономии на разделении партии → довод → вопрос про оплату → пакет 95 / 40% на день 7 и остаток на 14 / предоплата 50%.</a:t>
            </a:r>
          </a:p>
          <a:p>
            <a:pPr/>
            <a:r>
              <a:rPr>
                <a:solidFill>
                  <a:srgbClr val="1C1D22"/>
                </a:solidFill>
              </a:rPr>
              <a:t>Исход: взаимная выгода. Учебная полезность 64. Процесс 100.</a:t>
            </a:r>
          </a:p>
        </p:txBody>
      </p:sp>
      <p:sp>
        <p:nvSpPr>
          <p:cNvPr id="68555165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Тот же эталон. Сначала тот же пакет, затем вопросы, затем явный выход из переговоров.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/>
            </a:r>
            <a:endParaRPr/>
          </a:p>
          <a:p>
            <a:pPr marL="0" indent="0">
              <a:buNone/>
              <a:defRPr/>
            </a:pPr>
            <a:r>
              <a:rPr>
                <a:solidFill>
                  <a:srgbClr val="1C1D22"/>
                </a:solidFill>
              </a:rPr>
              <a:t>Исход: нет соглашения. Полезность сделки не считается. Процесс 70. Зачёт взаимно приемлемого пакета сохраняется.</a:t>
            </a:r>
            <a:endParaRPr lang="ru-RU" sz="1400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Отказ — отдельный ход игрока, а не следствие порядка вопросов.</a:t>
            </a:r>
          </a:p>
        </p:txBody>
      </p:sp>
      <p:sp>
        <p:nvSpPr>
          <p:cNvPr id="60476942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rPr lang="ru-RU"/>
              <a:t>ДВА ИСХОДА ОДНОГО ЭТАЛОНА</a:t>
            </a:r>
            <a:endParaRPr/>
          </a:p>
        </p:txBody>
      </p:sp>
      <p:sp>
        <p:nvSpPr>
          <p:cNvPr id="159017089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Попытка А</a:t>
            </a:r>
            <a:endParaRPr/>
          </a:p>
        </p:txBody>
      </p:sp>
      <p:sp>
        <p:nvSpPr>
          <p:cNvPr id="5983151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Попытка Б</a:t>
            </a:r>
            <a:endParaRPr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374930" name="Скругленный прямоугольник 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063858071" name="Рисунок 11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778252" y="904538"/>
            <a:ext cx="4551334" cy="3557364"/>
          </a:xfrm>
          <a:prstGeom prst="rect">
            <a:avLst/>
          </a:prstGeom>
        </p:spPr>
      </p:pic>
      <p:sp>
        <p:nvSpPr>
          <p:cNvPr id="1002487053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49680954" name="Текст 3"/>
          <p:cNvSpPr>
            <a:spLocks noGrp="1"/>
          </p:cNvSpPr>
          <p:nvPr>
            <p:ph type="body" sz="quarter" idx="15"/>
          </p:nvPr>
        </p:nvSpPr>
        <p:spPr bwMode="auto"/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Проверка «выполнено» со ссылкой «Ход 5 — открыть сохранённый момент».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06312520" name="Текст 4"/>
          <p:cNvSpPr>
            <a:spLocks noGrp="1"/>
          </p:cNvSpPr>
          <p:nvPr>
            <p:ph type="body" sz="quarter" idx="16"/>
          </p:nvPr>
        </p:nvSpPr>
        <p:spPr bwMode="auto"/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Сохранённая фраза пакета: 95 / 40% на день 7, остаток на 14 / предоплата 50%.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17055530" name="Текст 5"/>
          <p:cNvSpPr>
            <a:spLocks noGrp="1"/>
          </p:cNvSpPr>
          <p:nvPr>
            <p:ph type="body" sz="quarter" idx="17"/>
          </p:nvPr>
        </p:nvSpPr>
        <p:spPr bwMode="auto"/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Если наблюдений мало или нет явной подготовки, общий балл процесса не выводится.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72957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РАЗБОР ПО ХОДАМ</a:t>
            </a:r>
            <a:endParaRPr lang="ru-RU"/>
          </a:p>
        </p:txBody>
      </p:sp>
      <p:pic>
        <p:nvPicPr>
          <p:cNvPr id="1717055531" name="Picture 1717055530" descr="evide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0057" y="1187395"/>
            <a:ext cx="2165624" cy="300029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743221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414389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100 из 100 — применимые проверки этой записи, не оценка компетенции человека.</a:t>
            </a:r>
            <a:endParaRPr lang="ru-RU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Отказ не равен провалу процесса: попытка Б без соглашения получила процесс 70.</a:t>
            </a:r>
          </a:p>
          <a:p>
            <a:pPr/>
            <a:r>
              <a:rPr>
                <a:solidFill>
                  <a:srgbClr val="1C1D22"/>
                </a:solidFill>
              </a:rPr>
              <a:t>Слабое соглашение в семье нагрузки: учебная полезность 20, процесс 44,12.</a:t>
            </a:r>
          </a:p>
          <a:p>
            <a:pPr/>
            <a:r>
              <a:rPr>
                <a:solidFill>
                  <a:srgbClr val="1C1D22"/>
                </a:solidFill>
              </a:rPr>
              <a:t>Администратор не читает чужие отчёты. Наставник обсуждает разбор на экране игрока.</a:t>
            </a:r>
          </a:p>
        </p:txBody>
      </p:sp>
      <p:sp>
        <p:nvSpPr>
          <p:cNvPr id="5641896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10</a:t>
            </a:fld>
            <a:endParaRPr lang="ru-RU"/>
          </a:p>
        </p:txBody>
      </p:sp>
      <p:sp>
        <p:nvSpPr>
          <p:cNvPr id="1551786739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Это не тест на 100 баллов</a:t>
            </a:r>
            <a:endParaRPr lang="ru-RU" sz="2000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7983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762536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2673551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68693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9954350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Целевой сегмент: HR / L&amp;D, начинающий закупщик и руководитель в обучении.</a:t>
            </a:r>
            <a:endParaRPr/>
          </a:p>
          <a:p>
            <a:pPr/>
            <a:r>
              <a:rPr>
                <a:solidFill>
                  <a:srgbClr val="1C1D22"/>
                </a:solidFill>
              </a:rPr>
              <a:t>Пилотов, договоров и названных клиентов нет.</a:t>
            </a:r>
          </a:p>
          <a:p>
            <a:pPr/>
            <a:r>
              <a:rPr>
                <a:solidFill>
                  <a:srgbClr val="1C1D22"/>
                </a:solidFill>
              </a:rPr>
              <a:t>ОЭЗ «Алабуга» — постановщик кейса хакатона, не клиент продукта.</a:t>
            </a:r>
          </a:p>
        </p:txBody>
      </p:sp>
      <p:sp>
        <p:nvSpPr>
          <p:cNvPr id="68555165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Гипотеза пользы: безопасные попытки дешевле ошибки на реальной встрече.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/>
            </a:r>
            <a:endParaRPr/>
          </a:p>
          <a:p>
            <a:pPr marL="0" indent="0">
              <a:buNone/>
              <a:defRPr/>
            </a:pPr>
            <a:r>
              <a:rPr>
                <a:solidFill>
                  <a:srgbClr val="1C1D22"/>
                </a:solidFill>
              </a:rPr>
              <a:t>Измеренного ROI в этом прототипе нет.</a:t>
            </a: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60476942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rPr lang="ru-RU"/>
              <a:t>КОМУ И КАКАЯ ГИПОТЕЗА</a:t>
            </a:r>
            <a:endParaRPr/>
          </a:p>
        </p:txBody>
      </p:sp>
      <p:sp>
        <p:nvSpPr>
          <p:cNvPr id="159017089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Маркетинг</a:t>
            </a:r>
            <a:endParaRPr/>
          </a:p>
        </p:txBody>
      </p:sp>
      <p:sp>
        <p:nvSpPr>
          <p:cNvPr id="5983151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Бизнес</a:t>
            </a:r>
            <a:endParaRPr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64005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024000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38103714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7071046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5608873" name="Скругленный прямоугольник 1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89876433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7816448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72097255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741933057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Браузер. Один origin: Fastify + React. Показ слушает 127.0.0.1. Регистрации игрока нет.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79676049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Учебный движок считает допустимость, раскрытие фактов и полезность. Модель, CUDA и платный API для игры не нужны.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97765126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SQLite хранит публикации и попытки. Администратор не обходит границу чужих отчётов.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65658677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845957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325953379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555711401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812483655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5959615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КАК УСТРОЕНО</a:t>
            </a:r>
            <a:endParaRPr lang="ru-RU"/>
          </a:p>
        </p:txBody>
      </p:sp>
      <p:cxnSp>
        <p:nvCxnSpPr>
          <p:cNvPr id="394650640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7983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762536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2673551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68693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9954350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Выбор действий, две семьи, шесть полей, последствия, разбор, повторная попытка.</a:t>
            </a:r>
            <a:endParaRPr/>
          </a:p>
          <a:p>
            <a:pPr/>
            <a:r>
              <a:rPr>
                <a:solidFill>
                  <a:srgbClr val="1C1D22"/>
                </a:solidFill>
              </a:rPr>
              <a:t>Локальный запуск на Windows без модели и ключа API.</a:t>
            </a:r>
          </a:p>
          <a:p>
            <a:pPr/>
            <a:r>
              <a:rPr>
                <a:solidFill>
                  <a:srgbClr val="1C1D22"/>
                </a:solidFill>
              </a:rPr>
              <a:t>Команды Prepare и Start — отдельно от Stop. Адрес после запуска: http://127.0.0.1:3100/admin на том компьютере.</a:t>
            </a:r>
          </a:p>
        </p:txBody>
      </p:sp>
      <p:sp>
        <p:nvSpPr>
          <p:cNvPr id="68555165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Свободный текст и ИИ-оппонент в эту версию не входят.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/>
            </a:r>
            <a:endParaRPr/>
          </a:p>
          <a:p>
            <a:pPr marL="0" indent="0">
              <a:buNone/>
              <a:defRPr/>
            </a:pPr>
            <a:r>
              <a:rPr>
                <a:solidFill>
                  <a:srgbClr val="1C1D22"/>
                </a:solidFill>
              </a:rPr>
              <a:t>Игрок выбирает действия, результат считает учебный движок.</a:t>
            </a:r>
            <a:endParaRPr lang="ru-RU" sz="1400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Публичного сайта нет: показ на http://127.0.0.1:3100 после локального Start.</a:t>
            </a:r>
          </a:p>
        </p:txBody>
      </p:sp>
      <p:sp>
        <p:nvSpPr>
          <p:cNvPr id="60476942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rPr lang="ru-RU"/>
              <a:t>СЕЙЧАС И ДАЛЬШЕ</a:t>
            </a:r>
            <a:endParaRPr/>
          </a:p>
        </p:txBody>
      </p:sp>
      <p:sp>
        <p:nvSpPr>
          <p:cNvPr id="159017089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Работает сейчас</a:t>
            </a:r>
            <a:endParaRPr/>
          </a:p>
        </p:txBody>
      </p:sp>
      <p:sp>
        <p:nvSpPr>
          <p:cNvPr id="5983151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Не в этом демо</a:t>
            </a:r>
            <a:endParaRPr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39009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2617603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11054005" name="Объект 2"/>
          <p:cNvSpPr>
            <a:spLocks noGrp="1"/>
          </p:cNvSpPr>
          <p:nvPr>
            <p:ph idx="1"/>
          </p:nvPr>
        </p:nvSpPr>
        <p:spPr bwMode="auto">
          <a:xfrm>
            <a:off x="623888" y="1556279"/>
            <a:ext cx="10789619" cy="3745441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Команда «Ходоки». Сначала разверните прототип по инструкции запуска, затем смотрите слайды и обзор.</a:t>
            </a:r>
            <a:endParaRPr lang="ru-RU">
              <a:solidFill>
                <a:schemeClr val="tx1"/>
              </a:solidFill>
            </a:endParaRPr>
          </a:p>
          <a:p>
            <a:r>
              <a:rPr>
                <a:solidFill>
                  <a:srgbClr val="FC3777"/>
                </a:solidFill>
                <a:hlinkClick r:id="rId5"/>
              </a:rPr>
              <a:t>Запуск — docs/ORGANIZER_LAUNCH_RU.md</a:t>
            </a:r>
          </a:p>
          <a:p>
            <a:r>
              <a:rPr>
                <a:solidFill>
                  <a:srgbClr val="FC3777"/>
                </a:solidFill>
                <a:hlinkClick r:id="rId6"/>
              </a:rPr>
              <a:t>Документация — docs/submission/README.md</a:t>
            </a:r>
          </a:p>
          <a:p>
            <a:r>
              <a:rPr>
                <a:solidFill>
                  <a:srgbClr val="FC3777"/>
                </a:solidFill>
                <a:hlinkClick r:id="rId7"/>
              </a:rPr>
              <a:t>Презентация — docs/submission/TALKNFACE_PRODUCT_PITCH_RU.pdf</a:t>
            </a:r>
          </a:p>
          <a:p>
            <a:r>
              <a:rPr>
                <a:solidFill>
                  <a:srgbClr val="FC3777"/>
                </a:solidFill>
                <a:hlinkClick r:id="rId8"/>
              </a:rPr>
              <a:t>Сценарий показа — docs/DEMO_GUIDE_RU.md</a:t>
            </a:r>
          </a:p>
          <a:p>
            <a:r>
              <a:rPr>
                <a:solidFill>
                  <a:srgbClr val="FC3777"/>
                </a:solidFill>
                <a:hlinkClick r:id="rId9"/>
              </a:rPr>
              <a:t>Обзор продукта — docs/submission/PRODUCT_OVERVIEW_RU.md</a:t>
            </a:r>
          </a:p>
        </p:txBody>
      </p:sp>
      <p:sp>
        <p:nvSpPr>
          <p:cNvPr id="1126712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66458526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 wrap="square"/>
          <a:lstStyle/>
          <a:p>
            <a:pPr>
              <a:defRPr/>
            </a:pPr>
            <a:r>
              <a:t>Материалы в репозитории</a:t>
            </a:r>
            <a:endParaRPr lang="ru-RU" sz="3600">
              <a:solidFill>
                <a:schemeClr val="bg1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l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am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members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problem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journe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settings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amilies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attempts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evidenc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quiz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marketin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ch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next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materials"/>
</p:tagLst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222</Words>
  <Application>Microsoft Office PowerPoint</Application>
  <PresentationFormat>Широкоэкранный</PresentationFormat>
  <Paragraphs>64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Montserrat</vt:lpstr>
      <vt:lpstr>Wingdings</vt:lpstr>
      <vt:lpstr>Для Академия инноваторов 16_9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КОРОТКО О РЕШЕНИИ</vt:lpstr>
      <vt:lpstr>Презентация PowerPoint</vt:lpstr>
      <vt:lpstr>КОРОТКО О РЕШЕНИИ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Булат Садыков</cp:lastModifiedBy>
  <cp:revision>97</cp:revision>
  <dcterms:created xsi:type="dcterms:W3CDTF">2023-05-15T07:36:23Z</dcterms:created>
  <dcterms:modified xsi:type="dcterms:W3CDTF">2026-09-29T20:47:40Z</dcterms:modified>
</cp:coreProperties>
</file>