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62" r:id="rId2"/>
    <p:sldId id="263" r:id="rId3"/>
    <p:sldId id="264" r:id="rId4"/>
    <p:sldId id="273" r:id="rId5"/>
    <p:sldId id="272" r:id="rId6"/>
    <p:sldId id="269" r:id="rId7"/>
    <p:sldId id="271" r:id="rId8"/>
    <p:sldId id="266" r:id="rId9"/>
    <p:sldId id="281" r:id="rId10"/>
    <p:sldId id="267" r:id="rId11"/>
    <p:sldId id="282" r:id="rId12"/>
    <p:sldId id="279" r:id="rId13"/>
    <p:sldId id="283" r:id="rId14"/>
    <p:sldId id="268" r:id="rId15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597">
          <p15:clr>
            <a:srgbClr val="A4A3A4"/>
          </p15:clr>
        </p15:guide>
        <p15:guide id="2" pos="3591">
          <p15:clr>
            <a:srgbClr val="A4A3A4"/>
          </p15:clr>
        </p15:guide>
        <p15:guide id="3" pos="5496">
          <p15:clr>
            <a:srgbClr val="A4A3A4"/>
          </p15:clr>
        </p15:guide>
        <p15:guide id="4" pos="4112">
          <p15:clr>
            <a:srgbClr val="A4A3A4"/>
          </p15:clr>
        </p15:guide>
        <p15:guide id="5" pos="393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571006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51067756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29.09.2026</a:t>
            </a:fld>
            <a:endParaRPr lang="ru-RU"/>
          </a:p>
        </p:txBody>
      </p:sp>
      <p:sp>
        <p:nvSpPr>
          <p:cNvPr id="494483473" name="Образ слайда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1050160873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6682013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7443516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7492907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907879331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851173664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2424750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033962592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32800745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238836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177388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Титульный слайд"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75141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2135795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3794024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1004669257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5586078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1869038104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756912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29.09.2026</a:t>
            </a:fld>
            <a:endParaRPr lang="ru-RU"/>
          </a:p>
        </p:txBody>
      </p:sp>
      <p:sp>
        <p:nvSpPr>
          <p:cNvPr id="12902652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568452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406403889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608934560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88869775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6661007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234947790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847968315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73491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29.09.2026</a:t>
            </a:fld>
            <a:endParaRPr lang="ru-RU"/>
          </a:p>
        </p:txBody>
      </p:sp>
      <p:sp>
        <p:nvSpPr>
          <p:cNvPr id="1470507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11104822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3845723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62863997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29.09.2026</a:t>
            </a:fld>
            <a:endParaRPr lang="ru-RU"/>
          </a:p>
        </p:txBody>
      </p:sp>
      <p:sp>
        <p:nvSpPr>
          <p:cNvPr id="17183803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05672177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72346550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9291517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108856075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802798103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29.09.2026</a:t>
            </a:fld>
            <a:endParaRPr lang="ru-RU"/>
          </a:p>
        </p:txBody>
      </p:sp>
      <p:sp>
        <p:nvSpPr>
          <p:cNvPr id="113620977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578450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904129473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489478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6274616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38331484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8797372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96535655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29.09.2026</a:t>
            </a:fld>
            <a:endParaRPr lang="ru-RU"/>
          </a:p>
        </p:txBody>
      </p:sp>
      <p:sp>
        <p:nvSpPr>
          <p:cNvPr id="111820910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83850411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152701313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158086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29.09.2026</a:t>
            </a:fld>
            <a:endParaRPr lang="ru-RU"/>
          </a:p>
        </p:txBody>
      </p:sp>
      <p:sp>
        <p:nvSpPr>
          <p:cNvPr id="214154087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8695467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827208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50310469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80275351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34466029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29.09.2026</a:t>
            </a:fld>
            <a:endParaRPr lang="ru-RU"/>
          </a:p>
        </p:txBody>
      </p:sp>
      <p:sp>
        <p:nvSpPr>
          <p:cNvPr id="125663344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5132842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1452090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29.09.2026</a:t>
            </a:fld>
            <a:endParaRPr lang="ru-RU"/>
          </a:p>
        </p:txBody>
      </p:sp>
      <p:sp>
        <p:nvSpPr>
          <p:cNvPr id="1526613719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06842016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64831545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83532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29.09.2026</a:t>
            </a:fld>
            <a:endParaRPr lang="ru-RU"/>
          </a:p>
        </p:txBody>
      </p:sp>
      <p:sp>
        <p:nvSpPr>
          <p:cNvPr id="163698632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1152281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792695888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39493914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36002827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023102580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234549987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9740711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941068213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24452294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442631240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2048663028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2113199503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3277664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446555353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8058533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90894174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894757713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428863823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343505116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515773514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894102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29.09.2026</a:t>
            </a:fld>
            <a:endParaRPr lang="ru-RU"/>
          </a:p>
        </p:txBody>
      </p:sp>
      <p:sp>
        <p:nvSpPr>
          <p:cNvPr id="121122052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2083705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2072692296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24798854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35049125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116702249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00040240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671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29.09.2026</a:t>
            </a:fld>
            <a:endParaRPr lang="ru-RU"/>
          </a:p>
        </p:txBody>
      </p:sp>
      <p:sp>
        <p:nvSpPr>
          <p:cNvPr id="88260364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0249342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069046191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038801440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59051201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75644103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0895940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87654405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146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29.09.2026</a:t>
            </a:fld>
            <a:endParaRPr lang="ru-RU"/>
          </a:p>
        </p:txBody>
      </p:sp>
      <p:sp>
        <p:nvSpPr>
          <p:cNvPr id="64241657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2508180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2138550116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5763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03267904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1829479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726837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792285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5873574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66654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29.09.2026</a:t>
            </a:fld>
            <a:endParaRPr lang="ru-RU"/>
          </a:p>
        </p:txBody>
      </p:sp>
      <p:sp>
        <p:nvSpPr>
          <p:cNvPr id="148766850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7061959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836604490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022430740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2393209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7259905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62008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33417537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541524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4733086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3516282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78494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29.09.2026</a:t>
            </a:fld>
            <a:endParaRPr lang="ru-RU"/>
          </a:p>
        </p:txBody>
      </p:sp>
      <p:sp>
        <p:nvSpPr>
          <p:cNvPr id="80442928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5733450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218531094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766176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3286593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780686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3007920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5867444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9298680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56087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07464350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069794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29.09.2026</a:t>
            </a:fld>
            <a:endParaRPr lang="ru-RU"/>
          </a:p>
        </p:txBody>
      </p:sp>
      <p:sp>
        <p:nvSpPr>
          <p:cNvPr id="103536603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7389187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215978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83587419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00064058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54693500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58366598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73146947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98780880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62959875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670406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97728873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2415923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495493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29.09.2026</a:t>
            </a:fld>
            <a:endParaRPr lang="ru-RU"/>
          </a:p>
        </p:txBody>
      </p:sp>
      <p:sp>
        <p:nvSpPr>
          <p:cNvPr id="39818873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00528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8916529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335953280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1463434010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476019451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176505562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808973598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407533502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6463850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176752971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29.09.2026</a:t>
            </a:fld>
            <a:endParaRPr lang="ru-RU"/>
          </a:p>
        </p:txBody>
      </p:sp>
      <p:sp>
        <p:nvSpPr>
          <p:cNvPr id="14238304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09242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4049652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49657379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85753392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10027526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143119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29.09.2026</a:t>
            </a:fld>
            <a:endParaRPr lang="ru-RU"/>
          </a:p>
        </p:txBody>
      </p:sp>
      <p:sp>
        <p:nvSpPr>
          <p:cNvPr id="170620987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3341654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42421902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23109870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41112265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96543824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136102697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7783754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86904333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0910054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19617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6568750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346809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83598064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04578040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025139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2010952786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404443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66450328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9324759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8668512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838518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29.09.2026</a:t>
            </a:fld>
            <a:endParaRPr lang="ru-RU"/>
          </a:p>
        </p:txBody>
      </p:sp>
      <p:sp>
        <p:nvSpPr>
          <p:cNvPr id="591886101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804367235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40730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23652408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589471429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66844318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5075550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29.09.2026</a:t>
            </a:fld>
            <a:endParaRPr lang="ru-RU"/>
          </a:p>
        </p:txBody>
      </p:sp>
      <p:sp>
        <p:nvSpPr>
          <p:cNvPr id="119826026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841518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875674085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29318398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2568584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898332607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535726761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5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6287574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407157038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9482001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29.09.2026</a:t>
            </a:fld>
            <a:endParaRPr lang="ru-RU"/>
          </a:p>
        </p:txBody>
      </p:sp>
      <p:sp>
        <p:nvSpPr>
          <p:cNvPr id="1139730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8080331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hdr="0" ftr="0" dt="0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3.png"/><Relationship Id="rId5" Type="http://schemas.openxmlformats.org/officeDocument/2006/relationships/image" Target="../media/image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1.png"/><Relationship Id="rId5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Layout" Target="../slideLayouts/slideLayout19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slideLayout" Target="../slideLayouts/slideLayout18.xml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1.png"/><Relationship Id="rId5" Type="http://schemas.openxmlformats.org/officeDocument/2006/relationships/hyperlink" Target="https://github.com/AiratBastanov/TalkNFace/blob/docs/organizer-presentation-01/docs/submission/README.md" TargetMode="External"/><Relationship Id="rId6" Type="http://schemas.openxmlformats.org/officeDocument/2006/relationships/hyperlink" Target="https://github.com/AiratBastanov/TalkNFace/blob/docs/organizer-presentation-01/docs/submission/TALKNFACE_PRODUCT_PITCH_RU.pdf" TargetMode="External"/><Relationship Id="rId7" Type="http://schemas.openxmlformats.org/officeDocument/2006/relationships/hyperlink" Target="https://github.com/AiratBastanov/TalkNFace/blob/docs/organizer-presentation-01/docs/DEMO_GUIDE_RU.md" TargetMode="External"/><Relationship Id="rId8" Type="http://schemas.openxmlformats.org/officeDocument/2006/relationships/hyperlink" Target="https://github.com/AiratBastanov/TalkNFace/blob/docs/organizer-presentation-01/docs/submission/PRODUCT_OVERVIEW_RU.md" TargetMode="External"/><Relationship Id="rId9" Type="http://schemas.openxmlformats.org/officeDocument/2006/relationships/hyperlink" Target="https://github.com/AiratBastanov/TalkNFace/blob/docs/organizer-presentation-01/docs/submission/FORM_LINKS_RU.m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981391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 wrap="square"/>
          <a:lstStyle/>
          <a:p>
            <a:pPr marL="268288" indent="0">
              <a:defRPr/>
            </a:pPr>
            <a:r>
              <a:t>Ходоки</a:t>
            </a:r>
            <a:endParaRPr lang="ru-RU" sz="4800"/>
          </a:p>
        </p:txBody>
      </p:sp>
      <p:pic>
        <p:nvPicPr>
          <p:cNvPr id="1315845174" name="Рисунок 3" descr="alabuga-logo.png"/>
          <p:cNvPicPr>
            <a:picLocks noGrp="1" noChangeAspect="1"/>
          </p:cNvPicPr>
          <p:nvPr>
            <p:ph type="pic" sz="quarter" idx="11"/>
          </p:nvPr>
        </p:nvPicPr>
        <p:blipFill>
          <a:blip r:embed="rId4"/>
          <a:srcRect t="7737" b="7737"/>
          <a:stretch>
            <a:fillRect/>
          </a:stretch>
        </p:blipFill>
        <p:spPr/>
      </p:pic>
      <p:sp>
        <p:nvSpPr>
          <p:cNvPr id="1720058841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 wrap="square"/>
          <a:lstStyle/>
          <a:p>
            <a:pPr indent="268288">
              <a:defRPr/>
            </a:pPr>
            <a:r>
              <a:t>TalkNFace — «Арена переговоров»</a:t>
            </a:r>
            <a:endParaRPr lang="ru-RU"/>
          </a:p>
          <a:p>
            <a:pPr/>
            <a:r>
              <a:t>Кейс ЛЦТ 2026 · постановщик ОЭЗ «Алабуга»</a:t>
            </a:r>
          </a:p>
        </p:txBody>
      </p:sp>
      <p:sp>
        <p:nvSpPr>
          <p:cNvPr id="195705977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4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0231833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1980504320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rgbClr val="310F53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1370492063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rgbClr val="1C1D22"/>
                </a:solidFill>
              </a:rPr>
              <a:t>Разбор ссылается на сохранённый ход. Отказ не обнуляет процесс. В показанном продукте нет живого AI: выбор действий считает учебный движок.</a:t>
            </a:r>
            <a:endParaRPr/>
          </a:p>
        </p:txBody>
      </p:sp>
      <p:sp>
        <p:nvSpPr>
          <p:cNvPr id="16580894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rgbClr val="1C1D22"/>
                </a:solidFill>
              </a:rPr>
              <a:t>Капитан: Бастанов Айрат Иршатович</a:t>
            </a:r>
            <a:r>
              <a:rPr lang="ru-RU">
                <a:solidFill>
                  <a:schemeClr val="tx1"/>
                </a:solidFill>
              </a:rPr>
              <a:t/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rgbClr val="1C1D22"/>
                </a:solidFill>
              </a:rPr>
              <a:t>Специальность: автоматизация тестирования, машинное обучение, прикладное ПО</a:t>
            </a:r>
            <a:r>
              <a:rPr lang="ru-RU">
                <a:solidFill>
                  <a:schemeClr val="tx1"/>
                </a:solidFill>
              </a:rPr>
              <a:t/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rgbClr val="1C1D22"/>
                </a:solidFill>
              </a:rPr>
              <a:t>Кол-во участников: 2 человека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ru-RU" i="1">
                <a:solidFill>
                  <a:srgbClr val="1C1D22"/>
                </a:solidFill>
              </a:rPr>
              <a:t>Как образовалась команда: давно знакомы друг с другом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ru-RU" i="1">
                <a:solidFill>
                  <a:srgbClr val="1C1D22"/>
                </a:solidFill>
              </a:rPr>
              <a:t>Место учёбы: КФУ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rgbClr val="1C1D22"/>
                </a:solidFill>
              </a:rPr>
              <a:t>Город и регион: не указан</a:t>
            </a:r>
            <a:endParaRPr/>
          </a:p>
          <a:p>
            <a:pPr/>
            <a:r>
              <a:rPr>
                <a:solidFill>
                  <a:srgbClr val="1C1D22"/>
                </a:solidFill>
              </a:rPr>
              <a:t>Название команды: Ходоки</a:t>
            </a:r>
          </a:p>
        </p:txBody>
      </p:sp>
      <p:sp>
        <p:nvSpPr>
          <p:cNvPr id="2054149902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rgbClr val="310F53"/>
                </a:solidFill>
              </a:rPr>
              <a:t>О команде</a:t>
            </a:r>
            <a:endParaRPr/>
          </a:p>
        </p:txBody>
      </p:sp>
      <p:sp>
        <p:nvSpPr>
          <p:cNvPr id="1101092512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093862858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45312675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45685280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21860617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rgbClr val="310F53"/>
                </a:solidFill>
              </a:rPr>
              <a:t>Уникальность решения:</a:t>
            </a:r>
            <a:endParaRPr/>
          </a:p>
        </p:txBody>
      </p:sp>
      <p:sp>
        <p:nvSpPr>
          <p:cNvPr id="525179139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rgbClr val="1C1D22"/>
                </a:solidFill>
              </a:rPr>
              <a:t>Отрепетируйте сложный разговор до реальной встречи. Администратор настраивает ситуацию, игрок выбирает ходы, видит последствия и повторяет ту же версию иначе.</a:t>
            </a:r>
            <a:endParaRPr/>
          </a:p>
        </p:txBody>
      </p:sp>
      <p:sp>
        <p:nvSpPr>
          <p:cNvPr id="1310793419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2</a:t>
            </a:fld>
            <a:endParaRPr lang="ru-RU" sz="1200">
              <a:solidFill>
                <a:schemeClr val="accent5"/>
              </a:solidFill>
            </a:endParaRPr>
          </a:p>
        </p:txBody>
      </p:sp>
      <p:pic>
        <p:nvPicPr>
          <p:cNvPr id="2093862859" name="Picture 2093862858" descr="khodoki-logo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2289" y="335267"/>
            <a:ext cx="2971784" cy="2971784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4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4803053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27595816" name="Текст 8"/>
          <p:cNvSpPr txBox="1"/>
          <p:nvPr/>
        </p:nvSpPr>
        <p:spPr bwMode="auto">
          <a:xfrm>
            <a:off x="2823678" y="4527374"/>
            <a:ext cx="1894354" cy="14173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rgbClr val="1C1D22"/>
                </a:solidFill>
              </a:rPr>
              <a:t>Участник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rgbClr val="1C1D22"/>
                </a:solidFill>
              </a:rPr>
              <a:t>КФУ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rgbClr val="1C1D22"/>
                </a:solidFill>
              </a:rPr>
              <a:t>Автоматизация тестирования, машинное обучение, прикладное ПО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rgbClr val="1C1D22"/>
                </a:solidFill>
              </a:rPr>
              <a:t>Мессенджер и телефон не переданы</a:t>
            </a:r>
          </a:p>
        </p:txBody>
      </p:sp>
      <p:sp>
        <p:nvSpPr>
          <p:cNvPr id="1096058170" name="Текст 8"/>
          <p:cNvSpPr txBox="1"/>
          <p:nvPr/>
        </p:nvSpPr>
        <p:spPr bwMode="auto">
          <a:xfrm>
            <a:off x="2823677" y="3622118"/>
            <a:ext cx="1722566" cy="86868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rgbClr val="310F53"/>
                </a:solidFill>
              </a:rPr>
              <a:t>Садыков Булат Фаридович</a:t>
            </a:r>
            <a:endParaRPr/>
          </a:p>
        </p:txBody>
      </p:sp>
      <p:sp>
        <p:nvSpPr>
          <p:cNvPr id="1919697882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350290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80913719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3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089116351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674652358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2034819892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 wrap="square"/>
          <a:lstStyle/>
          <a:p>
            <a:pPr>
              <a:defRPr/>
            </a:pPr>
            <a:r>
              <a:t>Команда «Ходоки»</a:t>
            </a:r>
            <a:endParaRPr lang="ru-RU">
              <a:latin typeface="Montserrat"/>
            </a:endParaRPr>
          </a:p>
        </p:txBody>
      </p:sp>
      <p:sp>
        <p:nvSpPr>
          <p:cNvPr id="2066984242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527374"/>
            <a:ext cx="1894354" cy="1417320"/>
          </a:xfrm>
        </p:spPr>
        <p:txBody>
          <a:bodyPr wrap="square"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rgbClr val="1C1D22"/>
                </a:solidFill>
              </a:rPr>
              <a:t>Капитан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rgbClr val="1C1D22"/>
                </a:solidFill>
              </a:rPr>
              <a:t>КФУ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rgbClr val="1C1D22"/>
                </a:solidFill>
              </a:rPr>
              <a:t>Автоматизация тестирования, машинное обучение, прикладное ПО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rgbClr val="1C1D22"/>
                </a:solidFill>
              </a:rPr>
              <a:t>Мессенджер и телефон не переданы</a:t>
            </a:r>
            <a:endParaRPr/>
          </a:p>
        </p:txBody>
      </p:sp>
      <p:sp>
        <p:nvSpPr>
          <p:cNvPr id="1868725851" name="Текст 8"/>
          <p:cNvSpPr txBox="1"/>
          <p:nvPr/>
        </p:nvSpPr>
        <p:spPr bwMode="auto">
          <a:xfrm>
            <a:off x="518359" y="3622118"/>
            <a:ext cx="1722566" cy="86868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rgbClr val="310F53"/>
                </a:solidFill>
              </a:rPr>
              <a:t>Бастанов Айрат Иршатович</a:t>
            </a:r>
            <a:endParaRPr/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4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9182052" name="Скругленный прямоугольник 22"/>
          <p:cNvSpPr/>
          <p:nvPr/>
        </p:nvSpPr>
        <p:spPr bwMode="auto"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66035397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4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694308763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Приём ≠ выбор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362407428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3866856" cy="672075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Знать интересы и пакет недостаточно, чтобы выбрать вопрос или уступку под давлением.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89541631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Лекция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2051643315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3866856" cy="672075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Не создаёт этот выбор в момент сделки.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0886093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Живой тренинг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9371985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3866856" cy="672075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Трудно повторить в том же составе, с теми же ставками.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9195478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Игрок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8600038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3866856" cy="672075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Начинающий закупщик или руководитель. Ошибка без цены реальной сделки.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531973207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Администратор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22408839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3866856" cy="672075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Задаёт шесть полей и публикует ситуацию. Чужие попытки и отчёты ему закрыты.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06901795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Наставник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586387787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3866856" cy="672075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Разбирает отчёт на экране игрока. Отдельного доступа к чужим попыткам нет.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658965822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 wrap="square"/>
          <a:lstStyle/>
          <a:p>
            <a:pPr>
              <a:defRPr/>
            </a:pPr>
            <a:r>
              <a:t>ЗАЧЕМ ТРЕНАЖЁР</a:t>
            </a:r>
            <a:endParaRPr lang="ru-RU"/>
          </a:p>
        </p:txBody>
      </p:sp>
      <p:sp>
        <p:nvSpPr>
          <p:cNvPr id="1030438826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771003" cy="4236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01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2131940458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771003" cy="403756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02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278112055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771003" cy="403913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03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747687233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771003" cy="4236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827796003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771003" cy="403756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05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814724498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771003" cy="403913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06</a:t>
            </a:r>
            <a:endParaRPr lang="ru-RU" b="1">
              <a:solidFill>
                <a:schemeClr val="accent5"/>
              </a:solidFill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4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9637991" name="Скругленный прямоугольник 7"/>
          <p:cNvSpPr/>
          <p:nvPr/>
        </p:nvSpPr>
        <p:spPr bwMode="auto"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35691799" name="Скругленный прямоугольник 8"/>
          <p:cNvSpPr/>
          <p:nvPr/>
        </p:nvSpPr>
        <p:spPr bwMode="auto">
          <a:xfrm>
            <a:off x="8365957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0720759" name="Скругленный прямоугольник 9"/>
          <p:cNvSpPr/>
          <p:nvPr/>
        </p:nvSpPr>
        <p:spPr bwMode="auto"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24918916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5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00698133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780565" y="2493074"/>
            <a:ext cx="2965634" cy="4236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Настроить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191999388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780565" y="3128740"/>
            <a:ext cx="2965633" cy="27979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Шесть полей: сфера, тема, сложность, тон, роль, цель. Недостижимая цель не публикуется. До 8 ходов; встреча может закончиться раньше.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522108220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4623178" y="2493074"/>
            <a:ext cx="3034896" cy="403756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Выбрать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204770809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4623178" y="3128740"/>
            <a:ext cx="3034896" cy="27979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Игрок без регистрации фиксирует цель и альтернативу, затем выбирает ход: вопрос, признание факта, довод, пакет, принятие, выход.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00744353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8547959" y="2493074"/>
            <a:ext cx="2945464" cy="403913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Разобрать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118176078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8547959" y="3128740"/>
            <a:ext cx="2945464" cy="27979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Исход сделки отдельно от процесса. Ссылка открывает сохранённый ход. «Повторить ту же ситуацию» создаёт новую попытку той же версии.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8773566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6" y="335426"/>
            <a:ext cx="11331221" cy="37613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КАК ПРОХОДИТ ВСТРЕЧА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491534644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780565" y="1772415"/>
            <a:ext cx="1311031" cy="601141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01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1194912367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4615219" y="1766200"/>
            <a:ext cx="1311031" cy="572942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02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45080153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8547959" y="1766043"/>
            <a:ext cx="1311031" cy="573165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03</a:t>
            </a:r>
            <a:endParaRPr lang="ru-RU" sz="4400" b="1">
              <a:solidFill>
                <a:schemeClr val="accent5"/>
              </a:solidFill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4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4169583" name="Скругленный прямоугольник 8"/>
          <p:cNvSpPr/>
          <p:nvPr/>
        </p:nvSpPr>
        <p:spPr bwMode="auto"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59154379" name="Номер слайда 1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6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016423863" name="Заголовок 2"/>
          <p:cNvSpPr>
            <a:spLocks noGrp="1"/>
          </p:cNvSpPr>
          <p:nvPr>
            <p:ph type="title"/>
          </p:nvPr>
        </p:nvSpPr>
        <p:spPr bwMode="auto">
          <a:xfrm>
            <a:off x="622040" y="496888"/>
            <a:ext cx="4781233" cy="415925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Шесть полей администратора</a:t>
            </a:r>
            <a:endParaRPr lang="ru-RU" sz="2000">
              <a:solidFill>
                <a:schemeClr val="accent5"/>
              </a:solidFill>
            </a:endParaRPr>
          </a:p>
        </p:txBody>
      </p:sp>
      <p:sp>
        <p:nvSpPr>
          <p:cNvPr id="513458112" name="Текст 6"/>
          <p:cNvSpPr>
            <a:spLocks noGrp="1"/>
          </p:cNvSpPr>
          <p:nvPr>
            <p:ph type="body" sz="quarter" idx="14"/>
          </p:nvPr>
        </p:nvSpPr>
        <p:spPr bwMode="auto">
          <a:xfrm>
            <a:off x="595433" y="1143695"/>
            <a:ext cx="4807840" cy="4717356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Сфера · тема · сложность · тон · роль · цель.</a:t>
            </a:r>
            <a:endParaRPr lang="ru-RU">
              <a:solidFill>
                <a:schemeClr val="tx1"/>
              </a:solidFill>
            </a:endParaRPr>
          </a:p>
          <a:p>
            <a:pPr/>
            <a:r>
              <a:rPr>
                <a:solidFill>
                  <a:srgbClr val="1C1D22"/>
                </a:solidFill>
              </a:rPr>
              <a:t>Сложность «обычная» держит до 8 ходов.</a:t>
            </a:r>
          </a:p>
          <a:p>
            <a:pPr/>
            <a:r>
              <a:rPr>
                <a:solidFill>
                  <a:srgbClr val="1C1D22"/>
                </a:solidFill>
              </a:rPr>
              <a:t>Недостижимая цель блокируется до публикации.</a:t>
            </a:r>
          </a:p>
          <a:p>
            <a:pPr/>
            <a:r>
              <a:rPr>
                <a:solidFill>
                  <a:srgbClr val="1C1D22"/>
                </a:solidFill>
              </a:rPr>
              <a:t>Справа — форма настройки. Это не живой показ «плановая / дружелюбный / маржа»: проверенная пара исходов на следующем слайде идёт по неизменённому эталону «Закупка к запуску».</a:t>
            </a:r>
          </a:p>
        </p:txBody>
      </p:sp>
      <p:pic>
        <p:nvPicPr>
          <p:cNvPr id="1564169584" name="Picture 1564169583" descr="setting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1097280"/>
            <a:ext cx="5486400" cy="521208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4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1428086" name="Скругленный прямоугольник 9"/>
          <p:cNvSpPr/>
          <p:nvPr/>
        </p:nvSpPr>
        <p:spPr bwMode="auto"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03453540" name="Скругленный прямоугольник 22"/>
          <p:cNvSpPr/>
          <p:nvPr/>
        </p:nvSpPr>
        <p:spPr bwMode="auto"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8421870" name="Скругленный прямоугольник 23"/>
          <p:cNvSpPr/>
          <p:nvPr/>
        </p:nvSpPr>
        <p:spPr bwMode="auto"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45906615" name="Скругленный прямоугольник 24"/>
          <p:cNvSpPr/>
          <p:nvPr/>
        </p:nvSpPr>
        <p:spPr bwMode="auto"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23047891" name="Скругленный прямоугольник 26"/>
          <p:cNvSpPr/>
          <p:nvPr/>
        </p:nvSpPr>
        <p:spPr bwMode="auto"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3721888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7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117765720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339783"/>
            <a:ext cx="2284071" cy="4236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Закупка к запуску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945793227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128740"/>
            <a:ext cx="2284071" cy="27979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Промышленные закупки. Цена партии, график поставки, предоплата.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544775505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373557"/>
            <a:ext cx="2337416" cy="403756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Срочная задача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758941446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134070"/>
            <a:ext cx="2337416" cy="27979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Нагрузка команды. Объём, срок, помощник, перенос отчёта.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59826822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379657"/>
            <a:ext cx="2268537" cy="403913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Граница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491674402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136604"/>
            <a:ext cx="2268537" cy="27979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Третьей отрасли нет. Не каждая комбинация шести полей проходит проверку.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63518223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339783"/>
            <a:ext cx="2263553" cy="4236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Баллы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034290373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128739"/>
            <a:ext cx="2263553" cy="27979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Полезность описывает пакет в учебной модели. 100 процесса — применимые проверки записи, не компетенция человека.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69974785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 wrap="square"/>
          <a:lstStyle/>
          <a:p>
            <a:pPr>
              <a:defRPr/>
            </a:pPr>
            <a:r>
              <a:t>ДВЕ СЕМЬИ СЦЕНАРИЕВ</a:t>
            </a:r>
            <a:endParaRPr lang="ru-RU"/>
          </a:p>
        </p:txBody>
      </p:sp>
      <p:sp>
        <p:nvSpPr>
          <p:cNvPr id="339200817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771003" cy="4236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S1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058787722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771003" cy="403756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S2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567296402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771003" cy="403913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03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966193093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771003" cy="4236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4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167983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8762536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12673551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36869362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8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99543504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rgbClr val="1C1D22"/>
                </a:solidFill>
              </a:rPr>
              <a:t>Неизменённый эталон «Закупка к запуску»: обычная сложность, нейтральный тон, директор продаж, оборотные средства.</a:t>
            </a:r>
            <a:endParaRPr/>
          </a:p>
          <a:p>
            <a:pPr/>
            <a:r>
              <a:rPr>
                <a:solidFill>
                  <a:srgbClr val="1C1D22"/>
                </a:solidFill>
              </a:rPr>
              <a:t>Вопрос про логистику → признание экономии на разделении партии → довод → вопрос про оплату → пакет 95 / 40% на день 7 и остаток на 14 / предоплата 50%.</a:t>
            </a:r>
          </a:p>
          <a:p>
            <a:pPr/>
            <a:r>
              <a:rPr>
                <a:solidFill>
                  <a:srgbClr val="1C1D22"/>
                </a:solidFill>
              </a:rPr>
              <a:t>Исход: взаимная выгода. Учебная полезность 64. Процесс 100.</a:t>
            </a:r>
          </a:p>
        </p:txBody>
      </p:sp>
      <p:sp>
        <p:nvSpPr>
          <p:cNvPr id="68555165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rgbClr val="1C1D22"/>
                </a:solidFill>
              </a:rPr>
              <a:t>Тот же эталон. Сначала тот же пакет, затем вопросы, затем явный выход из переговоров.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/>
            </a:r>
            <a:endParaRPr/>
          </a:p>
          <a:p>
            <a:pPr marL="0" indent="0">
              <a:buNone/>
              <a:defRPr/>
            </a:pPr>
            <a:r>
              <a:rPr>
                <a:solidFill>
                  <a:srgbClr val="1C1D22"/>
                </a:solidFill>
              </a:rPr>
              <a:t>Исход: нет соглашения. Полезность сделки не считается. Процесс 70. Зачёт взаимно приемлемого пакета сохраняется.</a:t>
            </a:r>
            <a:endParaRPr lang="ru-RU" sz="1400">
              <a:solidFill>
                <a:schemeClr val="tx1"/>
              </a:solidFill>
            </a:endParaRPr>
          </a:p>
          <a:p>
            <a:pPr/>
            <a:r>
              <a:rPr>
                <a:solidFill>
                  <a:srgbClr val="1C1D22"/>
                </a:solidFill>
              </a:rPr>
              <a:t>Отказ — отдельный ход игрока, а не следствие порядка вопросов.</a:t>
            </a:r>
          </a:p>
        </p:txBody>
      </p:sp>
      <p:sp>
        <p:nvSpPr>
          <p:cNvPr id="604769426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 wrap="square"/>
          <a:lstStyle/>
          <a:p>
            <a:pPr>
              <a:defRPr/>
            </a:pPr>
            <a:r>
              <a:rPr lang="ru-RU"/>
              <a:t>ДВА ИСХОДА ОДНОГО ЭТАЛОНА</a:t>
            </a:r>
            <a:endParaRPr/>
          </a:p>
        </p:txBody>
      </p:sp>
      <p:sp>
        <p:nvSpPr>
          <p:cNvPr id="1590170897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 wrap="square"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rgbClr val="310F53"/>
                </a:solidFill>
              </a:rPr>
              <a:t>Попытка А</a:t>
            </a:r>
            <a:endParaRPr/>
          </a:p>
        </p:txBody>
      </p:sp>
      <p:sp>
        <p:nvSpPr>
          <p:cNvPr id="598315152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 wrap="square"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rgbClr val="310F53"/>
                </a:solidFill>
              </a:rPr>
              <a:t>Попытка Б</a:t>
            </a:r>
            <a:endParaRPr/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4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2374930" name="Скругленный прямоугольник 2"/>
          <p:cNvSpPr/>
          <p:nvPr/>
        </p:nvSpPr>
        <p:spPr bwMode="auto"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063858071" name="Рисунок 11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3778252" y="904538"/>
            <a:ext cx="4551334" cy="3557364"/>
          </a:xfrm>
          <a:prstGeom prst="rect">
            <a:avLst/>
          </a:prstGeom>
        </p:spPr>
      </p:pic>
      <p:sp>
        <p:nvSpPr>
          <p:cNvPr id="1002487053" name="Номер слайда 6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9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349680954" name="Текст 3"/>
          <p:cNvSpPr>
            <a:spLocks noGrp="1"/>
          </p:cNvSpPr>
          <p:nvPr>
            <p:ph type="body" sz="quarter" idx="15"/>
          </p:nvPr>
        </p:nvSpPr>
        <p:spPr bwMode="auto"/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Проверка «выполнено» со ссылкой «Ход 5 — открыть сохранённый момент».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306312520" name="Текст 4"/>
          <p:cNvSpPr>
            <a:spLocks noGrp="1"/>
          </p:cNvSpPr>
          <p:nvPr>
            <p:ph type="body" sz="quarter" idx="16"/>
          </p:nvPr>
        </p:nvSpPr>
        <p:spPr bwMode="auto"/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Сохранённая фраза пакета: 95 / 40% на день 7, остаток на 14 / предоплата 50%.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17055530" name="Текст 5"/>
          <p:cNvSpPr>
            <a:spLocks noGrp="1"/>
          </p:cNvSpPr>
          <p:nvPr>
            <p:ph type="body" sz="quarter" idx="17"/>
          </p:nvPr>
        </p:nvSpPr>
        <p:spPr bwMode="auto"/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Если наблюдений мало или нет явной подготовки, общий балл процесса не выводится.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31972957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 wrap="square"/>
          <a:lstStyle/>
          <a:p>
            <a:pPr>
              <a:defRPr/>
            </a:pPr>
            <a:r>
              <a:t>РАЗБОР ПО ХОДАМ</a:t>
            </a:r>
            <a:endParaRPr lang="ru-RU"/>
          </a:p>
        </p:txBody>
      </p:sp>
      <p:pic>
        <p:nvPicPr>
          <p:cNvPr id="1717055531" name="Picture 1717055530" descr="eviden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0057" y="1187395"/>
            <a:ext cx="2165624" cy="3000292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4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3743221" name="Прямоугольник 29"/>
          <p:cNvSpPr/>
          <p:nvPr/>
        </p:nvSpPr>
        <p:spPr bwMode="auto"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66414389" name="Объект 28"/>
          <p:cNvSpPr>
            <a:spLocks noGrp="1"/>
          </p:cNvSpPr>
          <p:nvPr>
            <p:ph idx="1"/>
          </p:nvPr>
        </p:nvSpPr>
        <p:spPr bwMode="auto">
          <a:xfrm>
            <a:off x="521133" y="1263123"/>
            <a:ext cx="5574868" cy="4937652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100 из 100 — применимые проверки этой записи, не оценка компетенции человека.</a:t>
            </a:r>
            <a:endParaRPr lang="ru-RU">
              <a:solidFill>
                <a:schemeClr val="tx1"/>
              </a:solidFill>
            </a:endParaRPr>
          </a:p>
          <a:p>
            <a:pPr/>
            <a:r>
              <a:rPr>
                <a:solidFill>
                  <a:srgbClr val="1C1D22"/>
                </a:solidFill>
              </a:rPr>
              <a:t>Отказ не равен провалу процесса: попытка Б без соглашения получила процесс 70.</a:t>
            </a:r>
          </a:p>
          <a:p>
            <a:pPr/>
            <a:r>
              <a:rPr>
                <a:solidFill>
                  <a:srgbClr val="1C1D22"/>
                </a:solidFill>
              </a:rPr>
              <a:t>Слабое соглашение в семье нагрузки: учебная полезность 20, процесс 44,12.</a:t>
            </a:r>
          </a:p>
          <a:p>
            <a:pPr/>
            <a:r>
              <a:rPr>
                <a:solidFill>
                  <a:srgbClr val="1C1D22"/>
                </a:solidFill>
              </a:rPr>
              <a:t>Администратор не читает чужие отчёты. Наставник обсуждает разбор на экране игрока.</a:t>
            </a:r>
          </a:p>
        </p:txBody>
      </p:sp>
      <p:sp>
        <p:nvSpPr>
          <p:cNvPr id="56418968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10</a:t>
            </a:fld>
            <a:endParaRPr lang="ru-RU"/>
          </a:p>
        </p:txBody>
      </p:sp>
      <p:sp>
        <p:nvSpPr>
          <p:cNvPr id="1551786739" name="Заголовок 27"/>
          <p:cNvSpPr>
            <a:spLocks noGrp="1"/>
          </p:cNvSpPr>
          <p:nvPr>
            <p:ph type="title"/>
          </p:nvPr>
        </p:nvSpPr>
        <p:spPr bwMode="auto">
          <a:xfrm>
            <a:off x="527444" y="395288"/>
            <a:ext cx="5574868" cy="425729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Это не тест на 100 баллов</a:t>
            </a:r>
            <a:endParaRPr lang="ru-RU" sz="2000">
              <a:solidFill>
                <a:schemeClr val="accent5"/>
              </a:solidFill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4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167983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8762536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12673551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36869362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99543504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rgbClr val="1C1D22"/>
                </a:solidFill>
              </a:rPr>
              <a:t>Целевой сегмент: HR / L&amp;D, начинающий закупщик и руководитель в обучении.</a:t>
            </a:r>
            <a:endParaRPr/>
          </a:p>
          <a:p>
            <a:pPr/>
            <a:r>
              <a:rPr>
                <a:solidFill>
                  <a:srgbClr val="1C1D22"/>
                </a:solidFill>
              </a:rPr>
              <a:t>Пилотов, договоров и названных клиентов нет.</a:t>
            </a:r>
          </a:p>
          <a:p>
            <a:pPr/>
            <a:r>
              <a:rPr>
                <a:solidFill>
                  <a:srgbClr val="1C1D22"/>
                </a:solidFill>
              </a:rPr>
              <a:t>ОЭЗ «Алабуга» — постановщик кейса хакатона, не клиент продукта.</a:t>
            </a:r>
          </a:p>
        </p:txBody>
      </p:sp>
      <p:sp>
        <p:nvSpPr>
          <p:cNvPr id="68555165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rgbClr val="1C1D22"/>
                </a:solidFill>
              </a:rPr>
              <a:t>Гипотеза пользы: безопасные попытки дешевле ошибки на реальной встрече.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/>
            </a:r>
            <a:endParaRPr/>
          </a:p>
          <a:p>
            <a:pPr marL="0" indent="0">
              <a:buNone/>
              <a:defRPr/>
            </a:pPr>
            <a:r>
              <a:rPr>
                <a:solidFill>
                  <a:srgbClr val="1C1D22"/>
                </a:solidFill>
              </a:rPr>
              <a:t>Измеренного ROI, выручки и воронки нет — цифры не выдуманы.</a:t>
            </a:r>
            <a:endParaRPr lang="ru-RU" sz="1400">
              <a:solidFill>
                <a:schemeClr val="tx1"/>
              </a:solidFill>
            </a:endParaRPr>
          </a:p>
          <a:p>
            <a:pPr/>
            <a:r>
              <a:rPr>
                <a:solidFill>
                  <a:srgbClr val="1C1D22"/>
                </a:solidFill>
              </a:rPr>
              <a:t>Файла LICENSE в репозитории нет. Это решение владельца, не дисквалификация из PDF кейса.</a:t>
            </a:r>
          </a:p>
        </p:txBody>
      </p:sp>
      <p:sp>
        <p:nvSpPr>
          <p:cNvPr id="604769426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 wrap="square"/>
          <a:lstStyle/>
          <a:p>
            <a:pPr>
              <a:defRPr/>
            </a:pPr>
            <a:r>
              <a:rPr lang="ru-RU"/>
              <a:t>КОМУ И КАКАЯ ГИПОТЕЗА</a:t>
            </a:r>
            <a:endParaRPr/>
          </a:p>
        </p:txBody>
      </p:sp>
      <p:sp>
        <p:nvSpPr>
          <p:cNvPr id="1590170897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 wrap="square"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rgbClr val="310F53"/>
                </a:solidFill>
              </a:rPr>
              <a:t>Маркетинг</a:t>
            </a:r>
            <a:endParaRPr/>
          </a:p>
        </p:txBody>
      </p:sp>
      <p:sp>
        <p:nvSpPr>
          <p:cNvPr id="598315152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 wrap="square"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rgbClr val="310F53"/>
                </a:solidFill>
              </a:rPr>
              <a:t>Бизнес</a:t>
            </a:r>
            <a:endParaRPr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526951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4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6024000" name="Скругленный прямоугольник 7"/>
          <p:cNvSpPr/>
          <p:nvPr/>
        </p:nvSpPr>
        <p:spPr bwMode="auto"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338103714" name="Скругленный прямоугольник 9"/>
          <p:cNvSpPr/>
          <p:nvPr/>
        </p:nvSpPr>
        <p:spPr bwMode="auto"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117071046" name="Скругленный прямоугольник 10"/>
          <p:cNvSpPr/>
          <p:nvPr/>
        </p:nvSpPr>
        <p:spPr bwMode="auto"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5608873" name="Скругленный прямоугольник 1"/>
          <p:cNvSpPr/>
          <p:nvPr/>
        </p:nvSpPr>
        <p:spPr bwMode="auto"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389876433" name="Скругленный прямоугольник 16"/>
          <p:cNvSpPr/>
          <p:nvPr/>
        </p:nvSpPr>
        <p:spPr bwMode="auto">
          <a:xfrm>
            <a:off x="5340262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7816448" name="Скругленный прямоугольник 6"/>
          <p:cNvSpPr/>
          <p:nvPr/>
        </p:nvSpPr>
        <p:spPr bwMode="auto">
          <a:xfrm>
            <a:off x="1541018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72097255" name="Номер слайда 5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12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741933057" name="Текст 2"/>
          <p:cNvSpPr>
            <a:spLocks noGrp="1"/>
          </p:cNvSpPr>
          <p:nvPr>
            <p:ph type="body" sz="quarter" idx="26"/>
          </p:nvPr>
        </p:nvSpPr>
        <p:spPr bwMode="auto"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Браузер. Один origin: Fastify + React. Показ слушает 127.0.0.1. Регистрации игрока нет.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579676049" name="Текст 3"/>
          <p:cNvSpPr>
            <a:spLocks noGrp="1"/>
          </p:cNvSpPr>
          <p:nvPr>
            <p:ph type="body" sz="quarter" idx="31"/>
          </p:nvPr>
        </p:nvSpPr>
        <p:spPr bwMode="auto"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Учебный движок считает допустимость, раскрытие фактов и полезность. Модель, CUDA и платный API для игры не нужны.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97765126" name="Текст 4"/>
          <p:cNvSpPr>
            <a:spLocks noGrp="1"/>
          </p:cNvSpPr>
          <p:nvPr>
            <p:ph type="body" sz="quarter" idx="32"/>
          </p:nvPr>
        </p:nvSpPr>
        <p:spPr bwMode="auto"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SQLite хранит публикации и попытки. Администратор не обходит границу чужих отчётов.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1656586775" name="Google Shape;2799;p94"/>
          <p:cNvCxnSpPr/>
          <p:nvPr/>
        </p:nvCxnSpPr>
        <p:spPr bwMode="auto"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5845957" name="Google Shape;2829;p94"/>
          <p:cNvGrpSpPr/>
          <p:nvPr/>
        </p:nvGrpSpPr>
        <p:grpSpPr bwMode="auto">
          <a:xfrm>
            <a:off x="1899087" y="1753233"/>
            <a:ext cx="738531" cy="687909"/>
            <a:chOff x="3385733" y="2233242"/>
            <a:chExt cx="340504" cy="319542"/>
          </a:xfrm>
        </p:grpSpPr>
        <p:sp>
          <p:nvSpPr>
            <p:cNvPr id="63" name="Google Shape;2830;p94"/>
            <p:cNvSpPr/>
            <p:nvPr/>
          </p:nvSpPr>
          <p:spPr bwMode="auto">
            <a:xfrm>
              <a:off x="3385733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4" name="Google Shape;2831;p94"/>
            <p:cNvSpPr/>
            <p:nvPr/>
          </p:nvSpPr>
          <p:spPr bwMode="auto">
            <a:xfrm>
              <a:off x="3420988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5" name="Google Shape;2832;p94"/>
            <p:cNvSpPr/>
            <p:nvPr/>
          </p:nvSpPr>
          <p:spPr bwMode="auto"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6" name="Google Shape;2833;p94"/>
            <p:cNvSpPr/>
            <p:nvPr/>
          </p:nvSpPr>
          <p:spPr bwMode="auto"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7" name="Google Shape;2834;p94"/>
            <p:cNvSpPr/>
            <p:nvPr/>
          </p:nvSpPr>
          <p:spPr bwMode="auto"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8" name="Google Shape;2835;p94"/>
            <p:cNvSpPr/>
            <p:nvPr/>
          </p:nvSpPr>
          <p:spPr bwMode="auto">
            <a:xfrm>
              <a:off x="3420988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9" name="Google Shape;2836;p94"/>
            <p:cNvSpPr/>
            <p:nvPr/>
          </p:nvSpPr>
          <p:spPr bwMode="auto">
            <a:xfrm>
              <a:off x="3420988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0" name="Google Shape;2837;p94"/>
            <p:cNvSpPr/>
            <p:nvPr/>
          </p:nvSpPr>
          <p:spPr bwMode="auto"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1" name="Google Shape;2838;p94"/>
            <p:cNvSpPr/>
            <p:nvPr/>
          </p:nvSpPr>
          <p:spPr bwMode="auto"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2" name="Google Shape;2839;p94"/>
            <p:cNvSpPr/>
            <p:nvPr/>
          </p:nvSpPr>
          <p:spPr bwMode="auto"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3" name="Google Shape;2840;p94"/>
            <p:cNvSpPr/>
            <p:nvPr/>
          </p:nvSpPr>
          <p:spPr bwMode="auto"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4" name="Google Shape;2841;p94"/>
            <p:cNvSpPr/>
            <p:nvPr/>
          </p:nvSpPr>
          <p:spPr bwMode="auto"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5" name="Google Shape;2842;p94"/>
            <p:cNvSpPr/>
            <p:nvPr/>
          </p:nvSpPr>
          <p:spPr bwMode="auto">
            <a:xfrm>
              <a:off x="3646108" y="2379063"/>
              <a:ext cx="19275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6" name="Google Shape;2843;p94"/>
            <p:cNvSpPr/>
            <p:nvPr/>
          </p:nvSpPr>
          <p:spPr bwMode="auto"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325953379" name="Google Shape;2818;p94"/>
          <p:cNvGrpSpPr/>
          <p:nvPr/>
        </p:nvGrpSpPr>
        <p:grpSpPr bwMode="auto"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/>
            <p:cNvSpPr/>
            <p:nvPr/>
          </p:nvSpPr>
          <p:spPr bwMode="auto"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5" name="Google Shape;2820;p94"/>
            <p:cNvSpPr/>
            <p:nvPr/>
          </p:nvSpPr>
          <p:spPr bwMode="auto"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6" name="Google Shape;2821;p94"/>
            <p:cNvSpPr/>
            <p:nvPr/>
          </p:nvSpPr>
          <p:spPr bwMode="auto"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7" name="Google Shape;2822;p94"/>
            <p:cNvSpPr/>
            <p:nvPr/>
          </p:nvSpPr>
          <p:spPr bwMode="auto"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8" name="Google Shape;2823;p94"/>
            <p:cNvSpPr/>
            <p:nvPr/>
          </p:nvSpPr>
          <p:spPr bwMode="auto"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9" name="Google Shape;2824;p94"/>
            <p:cNvSpPr/>
            <p:nvPr/>
          </p:nvSpPr>
          <p:spPr bwMode="auto"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0" name="Google Shape;2825;p94"/>
            <p:cNvSpPr/>
            <p:nvPr/>
          </p:nvSpPr>
          <p:spPr bwMode="auto"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1" name="Google Shape;2826;p94"/>
            <p:cNvSpPr/>
            <p:nvPr/>
          </p:nvSpPr>
          <p:spPr bwMode="auto"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2" name="Google Shape;2827;p94"/>
            <p:cNvSpPr/>
            <p:nvPr/>
          </p:nvSpPr>
          <p:spPr bwMode="auto"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555711401" name="Google Shape;2805;p94"/>
          <p:cNvGrpSpPr/>
          <p:nvPr/>
        </p:nvGrpSpPr>
        <p:grpSpPr bwMode="auto"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/>
            <p:cNvSpPr/>
            <p:nvPr/>
          </p:nvSpPr>
          <p:spPr bwMode="auto"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9" name="Google Shape;2807;p94"/>
            <p:cNvSpPr/>
            <p:nvPr/>
          </p:nvSpPr>
          <p:spPr bwMode="auto"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0" name="Google Shape;2808;p94"/>
            <p:cNvSpPr/>
            <p:nvPr/>
          </p:nvSpPr>
          <p:spPr bwMode="auto"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1" name="Google Shape;2809;p94"/>
            <p:cNvSpPr/>
            <p:nvPr/>
          </p:nvSpPr>
          <p:spPr bwMode="auto"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2" name="Google Shape;2810;p94"/>
            <p:cNvSpPr/>
            <p:nvPr/>
          </p:nvSpPr>
          <p:spPr bwMode="auto"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3" name="Google Shape;2811;p94"/>
            <p:cNvSpPr/>
            <p:nvPr/>
          </p:nvSpPr>
          <p:spPr bwMode="auto"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4" name="Google Shape;2812;p94"/>
            <p:cNvSpPr/>
            <p:nvPr/>
          </p:nvSpPr>
          <p:spPr bwMode="auto"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5" name="Google Shape;2813;p94"/>
            <p:cNvSpPr/>
            <p:nvPr/>
          </p:nvSpPr>
          <p:spPr bwMode="auto">
            <a:xfrm>
              <a:off x="4789296" y="2294680"/>
              <a:ext cx="168266" cy="172068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6" name="Google Shape;2814;p94"/>
            <p:cNvSpPr/>
            <p:nvPr/>
          </p:nvSpPr>
          <p:spPr bwMode="auto"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7" name="Google Shape;2815;p94"/>
            <p:cNvSpPr/>
            <p:nvPr/>
          </p:nvSpPr>
          <p:spPr bwMode="auto">
            <a:xfrm>
              <a:off x="4883051" y="2382744"/>
              <a:ext cx="24052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8" name="Google Shape;2816;p94"/>
            <p:cNvSpPr/>
            <p:nvPr/>
          </p:nvSpPr>
          <p:spPr bwMode="auto"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sp>
        <p:nvSpPr>
          <p:cNvPr id="812483655" name="Скругленный прямоугольник 17"/>
          <p:cNvSpPr/>
          <p:nvPr/>
        </p:nvSpPr>
        <p:spPr bwMode="auto">
          <a:xfrm>
            <a:off x="9337010" y="1396603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59596156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 wrap="square"/>
          <a:lstStyle/>
          <a:p>
            <a:pPr>
              <a:defRPr/>
            </a:pPr>
            <a:r>
              <a:t>КАК УСТРОЕНО</a:t>
            </a:r>
            <a:endParaRPr lang="ru-RU"/>
          </a:p>
        </p:txBody>
      </p:sp>
      <p:cxnSp>
        <p:nvCxnSpPr>
          <p:cNvPr id="394650640" name="Google Shape;2799;p94"/>
          <p:cNvCxnSpPr/>
          <p:nvPr/>
        </p:nvCxnSpPr>
        <p:spPr bwMode="auto"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4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167983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8762536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12673551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36869362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13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99543504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rgbClr val="1C1D22"/>
                </a:solidFill>
              </a:rPr>
              <a:t>Выбор действий, две семьи, шесть полей, последствия, разбор, повторная попытка.</a:t>
            </a:r>
            <a:endParaRPr/>
          </a:p>
          <a:p>
            <a:pPr/>
            <a:r>
              <a:rPr>
                <a:solidFill>
                  <a:srgbClr val="1C1D22"/>
                </a:solidFill>
              </a:rPr>
              <a:t>Локальный запуск на Windows без модели и ключа API.</a:t>
            </a:r>
          </a:p>
          <a:p>
            <a:pPr/>
            <a:r>
              <a:rPr>
                <a:solidFill>
                  <a:srgbClr val="1C1D22"/>
                </a:solidFill>
              </a:rPr>
              <a:t>Команды Prepare и Start — отдельно от Stop. Адрес после запуска: http://127.0.0.1:3100/admin на том компьютере.</a:t>
            </a:r>
          </a:p>
        </p:txBody>
      </p:sp>
      <p:sp>
        <p:nvSpPr>
          <p:cNvPr id="68555165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rgbClr val="1C1D22"/>
                </a:solidFill>
              </a:rPr>
              <a:t>Свободный текст, AI-оппонент, генерация сценария моделью.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/>
            </a:r>
            <a:endParaRPr/>
          </a:p>
          <a:p>
            <a:pPr marL="0" indent="0">
              <a:buNone/>
              <a:defRPr/>
            </a:pPr>
            <a:r>
              <a:rPr>
                <a:solidFill>
                  <a:srgbClr val="1C1D22"/>
                </a:solidFill>
              </a:rPr>
              <a:t>Qwen не встроена и по качеству не проверена.</a:t>
            </a:r>
            <a:endParaRPr lang="ru-RU" sz="1400">
              <a:solidFill>
                <a:schemeClr val="tx1"/>
              </a:solidFill>
            </a:endParaRPr>
          </a:p>
          <a:p>
            <a:pPr/>
            <a:r>
              <a:rPr>
                <a:solidFill>
                  <a:srgbClr val="1C1D22"/>
                </a:solidFill>
              </a:rPr>
              <a:t>Публичного сайта нет. 127.0.0.1 не является ссылкой для формы хакатона.</a:t>
            </a:r>
          </a:p>
        </p:txBody>
      </p:sp>
      <p:sp>
        <p:nvSpPr>
          <p:cNvPr id="604769426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 wrap="square"/>
          <a:lstStyle/>
          <a:p>
            <a:pPr>
              <a:defRPr/>
            </a:pPr>
            <a:r>
              <a:rPr lang="ru-RU"/>
              <a:t>СЕЙЧАС И ДАЛЬШЕ</a:t>
            </a:r>
            <a:endParaRPr/>
          </a:p>
        </p:txBody>
      </p:sp>
      <p:sp>
        <p:nvSpPr>
          <p:cNvPr id="1590170897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 wrap="square"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rgbClr val="310F53"/>
                </a:solidFill>
              </a:rPr>
              <a:t>Работает сейчас</a:t>
            </a:r>
            <a:endParaRPr/>
          </a:p>
        </p:txBody>
      </p:sp>
      <p:sp>
        <p:nvSpPr>
          <p:cNvPr id="598315152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 wrap="square"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rgbClr val="310F53"/>
                </a:solidFill>
              </a:rPr>
              <a:t>Не в этом демо</a:t>
            </a:r>
            <a:endParaRPr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645281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4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2617603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11054005" name="Объект 2"/>
          <p:cNvSpPr>
            <a:spLocks noGrp="1"/>
          </p:cNvSpPr>
          <p:nvPr>
            <p:ph idx="1"/>
          </p:nvPr>
        </p:nvSpPr>
        <p:spPr bwMode="auto">
          <a:xfrm>
            <a:off x="623888" y="1556279"/>
            <a:ext cx="10789619" cy="3745441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Команда «Ходоки», 2 человека, КФУ. Публичного сайта нет: прототип — локальный запуск.</a:t>
            </a:r>
            <a:endParaRPr lang="ru-RU">
              <a:solidFill>
                <a:schemeClr val="tx1"/>
              </a:solidFill>
            </a:endParaRPr>
          </a:p>
          <a:p>
            <a:r>
              <a:rPr>
                <a:solidFill>
                  <a:srgbClr val="FC3777"/>
                </a:solidFill>
                <a:hlinkClick r:id="rId5"/>
              </a:rPr>
              <a:t>Документация — docs/submission/README.md</a:t>
            </a:r>
          </a:p>
          <a:p>
            <a:r>
              <a:rPr>
                <a:solidFill>
                  <a:srgbClr val="FC3777"/>
                </a:solidFill>
                <a:hlinkClick r:id="rId6"/>
              </a:rPr>
              <a:t>Презентация — docs/submission/TALKNFACE_PRODUCT_PITCH_RU.pdf</a:t>
            </a:r>
          </a:p>
          <a:p>
            <a:r>
              <a:rPr>
                <a:solidFill>
                  <a:srgbClr val="FC3777"/>
                </a:solidFill>
                <a:hlinkClick r:id="rId7"/>
              </a:rPr>
              <a:t>Прототип — docs/DEMO_GUIDE_RU.md</a:t>
            </a:r>
          </a:p>
          <a:p>
            <a:r>
              <a:rPr>
                <a:solidFill>
                  <a:srgbClr val="FC3777"/>
                </a:solidFill>
                <a:hlinkClick r:id="rId8"/>
              </a:rPr>
              <a:t>Дополнительно — docs/submission/PRODUCT_OVERVIEW_RU.md</a:t>
            </a:r>
          </a:p>
          <a:p>
            <a:r>
              <a:rPr>
                <a:solidFill>
                  <a:srgbClr val="FC3777"/>
                </a:solidFill>
                <a:hlinkClick r:id="rId9"/>
              </a:rPr>
              <a:t>PPTX и адреса коммита — docs/submission/FORM_LINKS_RU.md</a:t>
            </a:r>
          </a:p>
        </p:txBody>
      </p:sp>
      <p:sp>
        <p:nvSpPr>
          <p:cNvPr id="1126712022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14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266458526" name="Заголовок 1"/>
          <p:cNvSpPr>
            <a:spLocks noGrp="1"/>
          </p:cNvSpPr>
          <p:nvPr>
            <p:ph type="title"/>
          </p:nvPr>
        </p:nvSpPr>
        <p:spPr bwMode="auto">
          <a:xfrm>
            <a:off x="533104" y="414049"/>
            <a:ext cx="5994696" cy="552061"/>
          </a:xfrm>
        </p:spPr>
        <p:txBody>
          <a:bodyPr wrap="square"/>
          <a:lstStyle/>
          <a:p>
            <a:pPr>
              <a:defRPr/>
            </a:pPr>
            <a:r>
              <a:t>Материалы в репозитории</a:t>
            </a:r>
            <a:endParaRPr lang="ru-RU" sz="3600">
              <a:solidFill>
                <a:schemeClr val="bg1"/>
              </a:solidFill>
            </a:endParaRP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l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am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members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problem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journey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settings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amilies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attempts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evidenc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quiz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marketing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ch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next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materials"/>
</p:tagLst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222</Words>
  <Application>Microsoft Office PowerPoint</Application>
  <PresentationFormat>Широкоэкранный</PresentationFormat>
  <Paragraphs>64</Paragraphs>
  <Slides>14</Slides>
  <Notes>14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9" baseType="lpstr">
      <vt:lpstr>Arial</vt:lpstr>
      <vt:lpstr>Calibri</vt:lpstr>
      <vt:lpstr>Montserrat</vt:lpstr>
      <vt:lpstr>Wingdings</vt:lpstr>
      <vt:lpstr>Для Академия инноваторов 16_9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КОРОТКО О РЕШЕНИИ</vt:lpstr>
      <vt:lpstr>Презентация PowerPoint</vt:lpstr>
      <vt:lpstr>КОРОТКО О РЕШЕНИИ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Булат Садыков</cp:lastModifiedBy>
  <cp:revision>97</cp:revision>
  <dcterms:created xsi:type="dcterms:W3CDTF">2023-05-15T07:36:23Z</dcterms:created>
  <dcterms:modified xsi:type="dcterms:W3CDTF">2026-09-29T20:32:14Z</dcterms:modified>
</cp:coreProperties>
</file>