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2" r:id="rId2"/>
    <p:sldId id="263" r:id="rId3"/>
    <p:sldId id="264" r:id="rId4"/>
    <p:sldId id="273" r:id="rId5"/>
    <p:sldId id="272" r:id="rId6"/>
    <p:sldId id="269" r:id="rId7"/>
    <p:sldId id="271" r:id="rId8"/>
    <p:sldId id="266" r:id="rId9"/>
    <p:sldId id="281" r:id="rId10"/>
    <p:sldId id="267" r:id="rId11"/>
    <p:sldId id="282" r:id="rId12"/>
    <p:sldId id="279" r:id="rId13"/>
    <p:sldId id="283" r:id="rId14"/>
    <p:sldId id="268" r:id="rId15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597">
          <p15:clr>
            <a:srgbClr val="A4A3A4"/>
          </p15:clr>
        </p15:guide>
        <p15:guide id="2" pos="3591">
          <p15:clr>
            <a:srgbClr val="A4A3A4"/>
          </p15:clr>
        </p15:guide>
        <p15:guide id="3" pos="5496">
          <p15:clr>
            <a:srgbClr val="A4A3A4"/>
          </p15:clr>
        </p15:guide>
        <p15:guide id="4" pos="4112">
          <p15:clr>
            <a:srgbClr val="A4A3A4"/>
          </p15:clr>
        </p15:guide>
        <p15:guide id="5" pos="393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71006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51067756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29.09.2026</a:t>
            </a:fld>
            <a:endParaRPr lang="ru-RU"/>
          </a:p>
        </p:txBody>
      </p:sp>
      <p:sp>
        <p:nvSpPr>
          <p:cNvPr id="494483473" name="Образ слайда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050160873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668201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443516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7492907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7879331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851173664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424750" name="Образ слайда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33962592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32800745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82650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72926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итульный слайд">
    <p:bg>
      <p:bgPr>
        <a:blipFill rotWithShape="1">
          <a:blip r:embed="rId2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5141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2135795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3794024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1004669257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586078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869038104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56912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29.09.2026</a:t>
            </a:fld>
            <a:endParaRPr lang="ru-RU"/>
          </a:p>
        </p:txBody>
      </p:sp>
      <p:sp>
        <p:nvSpPr>
          <p:cNvPr id="1290265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568452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406403889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608934560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8886977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6661007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234947790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847968315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73491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29.09.2026</a:t>
            </a:fld>
            <a:endParaRPr lang="ru-RU"/>
          </a:p>
        </p:txBody>
      </p:sp>
      <p:sp>
        <p:nvSpPr>
          <p:cNvPr id="1470507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11104822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3845723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286399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29.09.2026</a:t>
            </a:fld>
            <a:endParaRPr lang="ru-RU"/>
          </a:p>
        </p:txBody>
      </p:sp>
      <p:sp>
        <p:nvSpPr>
          <p:cNvPr id="17183803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05672177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72346550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291517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08856075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02798103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29.09.2026</a:t>
            </a:fld>
            <a:endParaRPr lang="ru-RU"/>
          </a:p>
        </p:txBody>
      </p:sp>
      <p:sp>
        <p:nvSpPr>
          <p:cNvPr id="113620977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578450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90412947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89478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627461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</a:p>
        </p:txBody>
      </p:sp>
      <p:sp>
        <p:nvSpPr>
          <p:cNvPr id="38331484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8797372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6535655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29.09.2026</a:t>
            </a:fld>
            <a:endParaRPr lang="ru-RU"/>
          </a:p>
        </p:txBody>
      </p:sp>
      <p:sp>
        <p:nvSpPr>
          <p:cNvPr id="111820910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3850411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152701313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58086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29.09.2026</a:t>
            </a:fld>
            <a:endParaRPr lang="ru-RU"/>
          </a:p>
        </p:txBody>
      </p:sp>
      <p:sp>
        <p:nvSpPr>
          <p:cNvPr id="214154087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8695467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27208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50310469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0275351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4466029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29.09.2026</a:t>
            </a:fld>
            <a:endParaRPr lang="ru-RU"/>
          </a:p>
        </p:txBody>
      </p:sp>
      <p:sp>
        <p:nvSpPr>
          <p:cNvPr id="125663344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5132842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452090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29.09.2026</a:t>
            </a:fld>
            <a:endParaRPr lang="ru-RU"/>
          </a:p>
        </p:txBody>
      </p:sp>
      <p:sp>
        <p:nvSpPr>
          <p:cNvPr id="1526613719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6842016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4831545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3532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29.09.2026</a:t>
            </a:fld>
            <a:endParaRPr lang="ru-RU"/>
          </a:p>
        </p:txBody>
      </p:sp>
      <p:sp>
        <p:nvSpPr>
          <p:cNvPr id="163698632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1152281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792695888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39493914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36002827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023102580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234549987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9740711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41068213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4452294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442631240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048663028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2113199503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3277664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46555353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8058533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90894174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894757713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42886382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34350511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515773514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894102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29.09.2026</a:t>
            </a:fld>
            <a:endParaRPr lang="ru-RU"/>
          </a:p>
        </p:txBody>
      </p:sp>
      <p:sp>
        <p:nvSpPr>
          <p:cNvPr id="121122052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2083705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072692296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24798854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35049125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16702249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00040240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71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29.09.2026</a:t>
            </a:fld>
            <a:endParaRPr lang="ru-RU"/>
          </a:p>
        </p:txBody>
      </p:sp>
      <p:sp>
        <p:nvSpPr>
          <p:cNvPr id="88260364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0249342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069046191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038801440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59051201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5644103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0895940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87654405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146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29.09.2026</a:t>
            </a:fld>
            <a:endParaRPr lang="ru-RU"/>
          </a:p>
        </p:txBody>
      </p:sp>
      <p:sp>
        <p:nvSpPr>
          <p:cNvPr id="64241657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2508180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3855011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5763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03267904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1829479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726837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792285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5873574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66654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29.09.2026</a:t>
            </a:fld>
            <a:endParaRPr lang="ru-RU"/>
          </a:p>
        </p:txBody>
      </p:sp>
      <p:sp>
        <p:nvSpPr>
          <p:cNvPr id="148766850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706195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36604490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24307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2393209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72599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62008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341753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54152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473308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3516282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78494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29.09.2026</a:t>
            </a:fld>
            <a:endParaRPr lang="ru-RU"/>
          </a:p>
        </p:txBody>
      </p:sp>
      <p:sp>
        <p:nvSpPr>
          <p:cNvPr id="8044292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5733450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853109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766176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3286593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780686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300792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5867444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9298680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56087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07464350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69794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29.09.2026</a:t>
            </a:fld>
            <a:endParaRPr lang="ru-RU"/>
          </a:p>
        </p:txBody>
      </p:sp>
      <p:sp>
        <p:nvSpPr>
          <p:cNvPr id="103536603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7389187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215978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83587419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00064058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5469350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58366598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3146947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98780880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62959875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670406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97728873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2415923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95493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29.09.2026</a:t>
            </a:fld>
            <a:endParaRPr lang="ru-RU"/>
          </a:p>
        </p:txBody>
      </p:sp>
      <p:sp>
        <p:nvSpPr>
          <p:cNvPr id="39818873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00528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8916529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335953280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46343401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476019451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176505562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808973598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40753350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46385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17675297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29.09.2026</a:t>
            </a:fld>
            <a:endParaRPr lang="ru-RU"/>
          </a:p>
        </p:txBody>
      </p:sp>
      <p:sp>
        <p:nvSpPr>
          <p:cNvPr id="14238304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09242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4049652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49657379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85753392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10027526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311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29.09.2026</a:t>
            </a:fld>
            <a:endParaRPr lang="ru-RU"/>
          </a:p>
        </p:txBody>
      </p:sp>
      <p:sp>
        <p:nvSpPr>
          <p:cNvPr id="170620987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41654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242421902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2310987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41112265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9654382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136102697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7783754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86904333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0910054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19617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6568750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346809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835980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04578040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025139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2010952786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404443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6450328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9324759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8668512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838518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591886101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04367235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40730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236524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947142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66844318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5075550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29.09.2026</a:t>
            </a:fld>
            <a:endParaRPr lang="ru-RU"/>
          </a:p>
        </p:txBody>
      </p:sp>
      <p:sp>
        <p:nvSpPr>
          <p:cNvPr id="119826026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41518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  <p:sp>
        <p:nvSpPr>
          <p:cNvPr id="1875674085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29318398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568584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8332607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53572676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5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87574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40715703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9482001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29.09.2026</a:t>
            </a:fld>
            <a:endParaRPr lang="ru-RU"/>
          </a:p>
        </p:txBody>
      </p:sp>
      <p:sp>
        <p:nvSpPr>
          <p:cNvPr id="1139730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8080331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hdr="0" ftr="0" dt="0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19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12.xml"/><Relationship Id="rId2" Type="http://schemas.openxmlformats.org/officeDocument/2006/relationships/slideLayout" Target="../slideLayouts/slideLayout18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.png"/><Relationship Id="rId5" Type="http://schemas.openxmlformats.org/officeDocument/2006/relationships/hyperlink" Target="https://github.com/AiratBastanov/TalkNFac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813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 wrap="square"/>
          <a:lstStyle/>
          <a:p>
            <a:pPr marL="268288" indent="0">
              <a:defRPr/>
            </a:pPr>
            <a:r>
              <a:t>Ходоки</a:t>
            </a:r>
            <a:endParaRPr lang="ru-RU" sz="4800"/>
          </a:p>
        </p:txBody>
      </p:sp>
      <p:pic>
        <p:nvPicPr>
          <p:cNvPr id="1315845174" name="Рисунок 3" descr="alabuga-logo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 t="7737" b="7737"/>
          <a:stretch>
            <a:fillRect/>
          </a:stretch>
        </p:blipFill>
        <p:spPr/>
      </p:pic>
      <p:sp>
        <p:nvSpPr>
          <p:cNvPr id="1720058841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 wrap="square"/>
          <a:lstStyle/>
          <a:p>
            <a:pPr indent="268288">
              <a:defRPr/>
            </a:pPr>
            <a:r>
              <a:t>TalkNFace — «Арена переговоров»</a:t>
            </a:r>
            <a:endParaRPr lang="ru-RU"/>
          </a:p>
          <a:p>
            <a:pPr/>
            <a:r>
              <a:t>Кейс ЛЦТ 2026 · постановщик ОЭЗ «Алабуга»</a:t>
            </a:r>
          </a:p>
        </p:txBody>
      </p:sp>
      <p:sp>
        <p:nvSpPr>
          <p:cNvPr id="195705977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231833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411045665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98050432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1370492063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rgbClr val="1C1D22"/>
                </a:solidFill>
              </a:rPr>
              <a:t>Разбор ссылается на сохранённый ход. Отказ не обнуляет процесс. В показанном продукте нет живого AI: выбор действий считает учебный движок.</a:t>
            </a:r>
            <a:endParaRPr/>
          </a:p>
        </p:txBody>
      </p:sp>
      <p:sp>
        <p:nvSpPr>
          <p:cNvPr id="16580894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Капитан: не указан</a:t>
            </a:r>
            <a:r>
              <a:rPr lang="ru-RU">
                <a:solidFill>
                  <a:schemeClr val="tx1"/>
                </a:solidFill>
              </a:rPr>
              <a:t/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Кол-во участников: не указано</a:t>
            </a:r>
            <a:r>
              <a:rPr lang="ru-RU">
                <a:solidFill>
                  <a:schemeClr val="tx1"/>
                </a:solidFill>
              </a:rPr>
              <a:t/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Как образовалась команда: не указано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rgbClr val="1C1D22"/>
                </a:solidFill>
              </a:rPr>
              <a:t>Место работы/учебы: не указано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rgbClr val="1C1D22"/>
                </a:solidFill>
              </a:rPr>
              <a:t>Город и регион: не указан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rgbClr val="1C1D22"/>
                </a:solidFill>
              </a:rPr>
              <a:t>Название команды: Ходоки</a:t>
            </a:r>
            <a:endParaRPr/>
          </a:p>
        </p:txBody>
      </p:sp>
      <p:sp>
        <p:nvSpPr>
          <p:cNvPr id="2054149902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О команде</a:t>
            </a:r>
            <a:endParaRPr/>
          </a:p>
        </p:txBody>
      </p:sp>
      <p:sp>
        <p:nvSpPr>
          <p:cNvPr id="1101092512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093862858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45312675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4568528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021860617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Уникальность решения:</a:t>
            </a:r>
            <a:endParaRPr/>
          </a:p>
        </p:txBody>
      </p:sp>
      <p:sp>
        <p:nvSpPr>
          <p:cNvPr id="525179139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rgbClr val="1C1D22"/>
                </a:solidFill>
              </a:rPr>
              <a:t>Отрепетируйте сложный разговор до реальной встречи. Администратор настраивает ситуацию, игрок выбирает ходы, видит последствия и повторяет ту же версию иначе.</a:t>
            </a:r>
            <a:endParaRPr/>
          </a:p>
        </p:txBody>
      </p:sp>
      <p:sp>
        <p:nvSpPr>
          <p:cNvPr id="1310793419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2</a:t>
            </a:fld>
            <a:endParaRPr lang="ru-RU" sz="1200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4803053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027595816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ФИО, роль, мессенджер, телефон и место учёбы не переданы</a:t>
            </a:r>
            <a:endParaRPr/>
          </a:p>
        </p:txBody>
      </p:sp>
      <p:sp>
        <p:nvSpPr>
          <p:cNvPr id="1096058170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Не указано</a:t>
            </a:r>
            <a:endParaRPr/>
          </a:p>
        </p:txBody>
      </p:sp>
      <p:sp>
        <p:nvSpPr>
          <p:cNvPr id="832865929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04872283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ФИО, роль, мессенджер, телефон и место учёбы не переданы</a:t>
            </a:r>
            <a:endParaRPr/>
          </a:p>
        </p:txBody>
      </p:sp>
      <p:sp>
        <p:nvSpPr>
          <p:cNvPr id="662282549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Не указано</a:t>
            </a:r>
            <a:endParaRPr/>
          </a:p>
        </p:txBody>
      </p:sp>
      <p:sp>
        <p:nvSpPr>
          <p:cNvPr id="764885046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71756087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ФИО, роль, мессенджер, телефон и место учёбы не переданы</a:t>
            </a:r>
            <a:endParaRPr/>
          </a:p>
        </p:txBody>
      </p:sp>
      <p:sp>
        <p:nvSpPr>
          <p:cNvPr id="2095144719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Не указано</a:t>
            </a:r>
            <a:endParaRPr/>
          </a:p>
        </p:txBody>
      </p:sp>
      <p:sp>
        <p:nvSpPr>
          <p:cNvPr id="1556880151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557774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ФИО, роль, мессенджер, телефон и место учёбы не переданы</a:t>
            </a:r>
            <a:endParaRPr/>
          </a:p>
        </p:txBody>
      </p:sp>
      <p:sp>
        <p:nvSpPr>
          <p:cNvPr id="2073860879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Не указано</a:t>
            </a:r>
            <a:endParaRPr/>
          </a:p>
        </p:txBody>
      </p:sp>
      <p:sp>
        <p:nvSpPr>
          <p:cNvPr id="1919697882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350290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809137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089116351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674652358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296119469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472836576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1276471680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2034819892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Команда «Ходоки»</a:t>
            </a:r>
            <a:endParaRPr lang="ru-RU">
              <a:latin typeface="Montserrat"/>
            </a:endParaRPr>
          </a:p>
        </p:txBody>
      </p:sp>
      <p:sp>
        <p:nvSpPr>
          <p:cNvPr id="2066984242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 wrap="square"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rgbClr val="1C1D22"/>
                </a:solidFill>
              </a:rPr>
              <a:t>ФИО, роль, мессенджер, телефон и место учёбы не переданы</a:t>
            </a:r>
            <a:endParaRPr/>
          </a:p>
        </p:txBody>
      </p:sp>
      <p:sp>
        <p:nvSpPr>
          <p:cNvPr id="1868725851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rgbClr val="310F53"/>
                </a:solidFill>
              </a:rPr>
              <a:t>Не указано</a:t>
            </a:r>
            <a:endParaRPr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182052" name="Скругленный прямоугольник 2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966035397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4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69430876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1615961" y="1428776"/>
            <a:ext cx="3866856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Приём ≠ выбор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6240742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1615964" y="1996388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Знать интересы и пакет недостаточно, чтобы выбрать вопрос или уступку под давлением.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89541631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1596604" y="3032761"/>
            <a:ext cx="386685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Лекция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051643315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1596604" y="3580500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Не создаёт этот выбор в момент сделки.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0886093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1596604" y="4616873"/>
            <a:ext cx="3866856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Живой тренинг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9371985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1596604" y="5164612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Трудно повторить в том же составе, с теми же ставками.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9195478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7289068" y="1428776"/>
            <a:ext cx="3866856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Игрок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8600038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7289071" y="1996388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Начинающий закупщик или руководитель. Ошибка без цены реальной сделки.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31973207" name="Текст 9"/>
          <p:cNvSpPr>
            <a:spLocks noGrp="1"/>
          </p:cNvSpPr>
          <p:nvPr>
            <p:ph type="body" sz="quarter" idx="45"/>
          </p:nvPr>
        </p:nvSpPr>
        <p:spPr bwMode="auto">
          <a:xfrm>
            <a:off x="7269712" y="3032761"/>
            <a:ext cx="386685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22408839" name="Текст 10"/>
          <p:cNvSpPr>
            <a:spLocks noGrp="1"/>
          </p:cNvSpPr>
          <p:nvPr>
            <p:ph type="body" sz="quarter" idx="46"/>
          </p:nvPr>
        </p:nvSpPr>
        <p:spPr bwMode="auto">
          <a:xfrm>
            <a:off x="7269712" y="3580500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Задаёт шесть полей и публикует ситуацию. Чужие попытки и отчёты ему закрыты.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006901795" name="Текст 11"/>
          <p:cNvSpPr>
            <a:spLocks noGrp="1"/>
          </p:cNvSpPr>
          <p:nvPr>
            <p:ph type="body" sz="quarter" idx="47"/>
          </p:nvPr>
        </p:nvSpPr>
        <p:spPr bwMode="auto">
          <a:xfrm>
            <a:off x="7269712" y="4616873"/>
            <a:ext cx="3866856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Наставник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586387787" name="Текст 12"/>
          <p:cNvSpPr>
            <a:spLocks noGrp="1"/>
          </p:cNvSpPr>
          <p:nvPr>
            <p:ph type="body" sz="quarter" idx="48"/>
          </p:nvPr>
        </p:nvSpPr>
        <p:spPr bwMode="auto">
          <a:xfrm>
            <a:off x="7269712" y="5164612"/>
            <a:ext cx="3866856" cy="67207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Разбирает отчёт на экране игрока. Отдельного доступа к чужим попыткам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58965822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ЗАЧЕМ ТРЕНАЖЁР</a:t>
            </a:r>
            <a:endParaRPr lang="ru-RU"/>
          </a:p>
        </p:txBody>
      </p:sp>
      <p:sp>
        <p:nvSpPr>
          <p:cNvPr id="1030438826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394052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131940458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501557" y="2998036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78112055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501557" y="4582148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74768723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6194020" y="1394052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827796003" name="Текст 18"/>
          <p:cNvSpPr>
            <a:spLocks noGrp="1"/>
          </p:cNvSpPr>
          <p:nvPr>
            <p:ph type="body" sz="quarter" idx="53"/>
          </p:nvPr>
        </p:nvSpPr>
        <p:spPr bwMode="auto">
          <a:xfrm>
            <a:off x="6174664" y="2998036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814724498" name="Текст 19"/>
          <p:cNvSpPr>
            <a:spLocks noGrp="1"/>
          </p:cNvSpPr>
          <p:nvPr>
            <p:ph type="body" sz="quarter" idx="54"/>
          </p:nvPr>
        </p:nvSpPr>
        <p:spPr bwMode="auto">
          <a:xfrm>
            <a:off x="6174664" y="4582148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637991" name="Скругленный прямоугольник 7"/>
          <p:cNvSpPr/>
          <p:nvPr/>
        </p:nvSpPr>
        <p:spPr bwMode="auto"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035691799" name="Скругленный прямоугольник 8"/>
          <p:cNvSpPr/>
          <p:nvPr/>
        </p:nvSpPr>
        <p:spPr bwMode="auto">
          <a:xfrm>
            <a:off x="8365957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0720759" name="Скругленный прямоугольник 9"/>
          <p:cNvSpPr/>
          <p:nvPr/>
        </p:nvSpPr>
        <p:spPr bwMode="auto"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24918916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5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800698133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780565" y="2493074"/>
            <a:ext cx="2965634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Настроить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91999388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780565" y="3128740"/>
            <a:ext cx="2965633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Шесть полей: сфера, тема, сложность, тон, роль, цель. Недостижимая цель не публикуется. До 8 ходов; встреча может закончиться раньше.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22108220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4623178" y="2493074"/>
            <a:ext cx="303489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Выбрать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204770809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4623178" y="3128740"/>
            <a:ext cx="3034896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Игрок без регистрации фиксирует цель и альтернативу, затем выбирает ход: вопрос, признание факта, довод, пакет, принятие, выход.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00744353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8547959" y="2493074"/>
            <a:ext cx="2945464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Разобрать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1118176078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8547959" y="3128740"/>
            <a:ext cx="2945464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Исход сделки отдельно от процесса. Ссылка открывает сохранённый ход. «Повторить ту же ситуацию» создаёт новую попытку той же версии.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8773566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6" y="335426"/>
            <a:ext cx="11331221" cy="37613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КАК ПРОХОДИТ ВСТРЕЧА</a:t>
            </a:r>
            <a:endParaRPr lang="ru-RU">
              <a:solidFill>
                <a:schemeClr val="accent5"/>
              </a:solidFill>
            </a:endParaRPr>
          </a:p>
        </p:txBody>
      </p:sp>
      <p:sp>
        <p:nvSpPr>
          <p:cNvPr id="1491534644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780565" y="1772415"/>
            <a:ext cx="1311031" cy="601141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01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1194912367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4615219" y="1766200"/>
            <a:ext cx="1311031" cy="572942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02</a:t>
            </a:r>
            <a:endParaRPr lang="ru-RU" sz="4400" b="1">
              <a:solidFill>
                <a:schemeClr val="accent5"/>
              </a:solidFill>
            </a:endParaRPr>
          </a:p>
        </p:txBody>
      </p:sp>
      <p:sp>
        <p:nvSpPr>
          <p:cNvPr id="45080153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8547959" y="1766043"/>
            <a:ext cx="1311031" cy="57316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sz="4400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169583" name="Скругленный прямоугольник 8"/>
          <p:cNvSpPr/>
          <p:nvPr/>
        </p:nvSpPr>
        <p:spPr bwMode="auto"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59154379" name="Номер слайда 1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6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016423863" name="Заголовок 2"/>
          <p:cNvSpPr>
            <a:spLocks noGrp="1"/>
          </p:cNvSpPr>
          <p:nvPr>
            <p:ph type="title"/>
          </p:nvPr>
        </p:nvSpPr>
        <p:spPr bwMode="auto">
          <a:xfrm>
            <a:off x="622040" y="496888"/>
            <a:ext cx="4781233" cy="415925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Шесть полей администратора</a:t>
            </a:r>
            <a:endParaRPr lang="ru-RU" sz="2000">
              <a:solidFill>
                <a:schemeClr val="accent5"/>
              </a:solidFill>
            </a:endParaRPr>
          </a:p>
        </p:txBody>
      </p:sp>
      <p:sp>
        <p:nvSpPr>
          <p:cNvPr id="513458112" name="Текст 6"/>
          <p:cNvSpPr>
            <a:spLocks noGrp="1"/>
          </p:cNvSpPr>
          <p:nvPr>
            <p:ph type="body" sz="quarter" idx="14"/>
          </p:nvPr>
        </p:nvSpPr>
        <p:spPr bwMode="auto">
          <a:xfrm>
            <a:off x="595433" y="1143695"/>
            <a:ext cx="4807840" cy="47173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Сфера · тема · сложность · тон · роль · цель.</a:t>
            </a:r>
            <a:endParaRPr lang="ru-RU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Сложность «обычная» держит до 8 ходов.</a:t>
            </a:r>
          </a:p>
          <a:p>
            <a:pPr/>
            <a:r>
              <a:rPr>
                <a:solidFill>
                  <a:srgbClr val="1C1D22"/>
                </a:solidFill>
              </a:rPr>
              <a:t>Недостижимая цель блокируется до публикации.</a:t>
            </a:r>
          </a:p>
          <a:p>
            <a:pPr/>
            <a:r>
              <a:rPr>
                <a:solidFill>
                  <a:srgbClr val="1C1D22"/>
                </a:solidFill>
              </a:rPr>
              <a:t>Справа — форма настройки. Это не живой показ «плановая / дружелюбный / маржа»: проверенная пара исходов на следующем слайде идёт по неизменённому эталону «Закупка к запуску».</a:t>
            </a:r>
          </a:p>
        </p:txBody>
      </p:sp>
      <p:pic>
        <p:nvPicPr>
          <p:cNvPr id="1564169584" name="Picture 1564169583" descr="sett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097280"/>
            <a:ext cx="5486400" cy="5212080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1428086" name="Скругленный прямоугольник 9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03453540" name="Скругленный прямоугольник 22"/>
          <p:cNvSpPr/>
          <p:nvPr/>
        </p:nvSpPr>
        <p:spPr bwMode="auto"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8421870" name="Скругленный прямоугольник 23"/>
          <p:cNvSpPr/>
          <p:nvPr/>
        </p:nvSpPr>
        <p:spPr bwMode="auto"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45906615" name="Скругленный прямоугольник 24"/>
          <p:cNvSpPr/>
          <p:nvPr/>
        </p:nvSpPr>
        <p:spPr bwMode="auto"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23047891" name="Скругленный прямоугольник 26"/>
          <p:cNvSpPr/>
          <p:nvPr/>
        </p:nvSpPr>
        <p:spPr bwMode="auto"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3721888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7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17765720" name="Текст 1"/>
          <p:cNvSpPr>
            <a:spLocks noGrp="1"/>
          </p:cNvSpPr>
          <p:nvPr>
            <p:ph type="body" sz="quarter" idx="37"/>
          </p:nvPr>
        </p:nvSpPr>
        <p:spPr bwMode="auto">
          <a:xfrm>
            <a:off x="520913" y="2339783"/>
            <a:ext cx="2284071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Закупка к запуску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945793227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20913" y="3128740"/>
            <a:ext cx="2284071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Промышленные закупки. Цена партии, график поставки, предоплата.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544775505" name="Текст 3"/>
          <p:cNvSpPr>
            <a:spLocks noGrp="1"/>
          </p:cNvSpPr>
          <p:nvPr>
            <p:ph type="body" sz="quarter" idx="39"/>
          </p:nvPr>
        </p:nvSpPr>
        <p:spPr bwMode="auto">
          <a:xfrm>
            <a:off x="3457903" y="2373557"/>
            <a:ext cx="2337416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Срочная задача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758941446" name="Текст 4"/>
          <p:cNvSpPr>
            <a:spLocks noGrp="1"/>
          </p:cNvSpPr>
          <p:nvPr>
            <p:ph type="body" sz="quarter" idx="40"/>
          </p:nvPr>
        </p:nvSpPr>
        <p:spPr bwMode="auto">
          <a:xfrm>
            <a:off x="3457903" y="3134070"/>
            <a:ext cx="2337416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Нагрузка команды. Объём, срок, помощник, перенос отчёта.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59826822" name="Текст 5"/>
          <p:cNvSpPr>
            <a:spLocks noGrp="1"/>
          </p:cNvSpPr>
          <p:nvPr>
            <p:ph type="body" sz="quarter" idx="41"/>
          </p:nvPr>
        </p:nvSpPr>
        <p:spPr bwMode="auto">
          <a:xfrm>
            <a:off x="6456363" y="2379657"/>
            <a:ext cx="2268537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Граница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491674402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456363" y="3136604"/>
            <a:ext cx="2268537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Третьей отрасли нет. Не каждая комбинация шести полей проходит проверку.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963518223" name="Текст 7"/>
          <p:cNvSpPr>
            <a:spLocks noGrp="1"/>
          </p:cNvSpPr>
          <p:nvPr>
            <p:ph type="body" sz="quarter" idx="43"/>
          </p:nvPr>
        </p:nvSpPr>
        <p:spPr bwMode="auto">
          <a:xfrm>
            <a:off x="9407534" y="2339783"/>
            <a:ext cx="226355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Баллы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034290373" name="Текст 8"/>
          <p:cNvSpPr>
            <a:spLocks noGrp="1"/>
          </p:cNvSpPr>
          <p:nvPr>
            <p:ph type="body" sz="quarter" idx="44"/>
          </p:nvPr>
        </p:nvSpPr>
        <p:spPr bwMode="auto">
          <a:xfrm>
            <a:off x="9407534" y="3128739"/>
            <a:ext cx="2263553" cy="27979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Полезность описывает пакет в учебной модели. 100 процесса — применимые проверки записи, не компетенция человека.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69974785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ДВЕ СЕМЬИ СЦЕНАРИЕВ</a:t>
            </a:r>
            <a:endParaRPr lang="ru-RU"/>
          </a:p>
        </p:txBody>
      </p:sp>
      <p:sp>
        <p:nvSpPr>
          <p:cNvPr id="33920081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20913" y="1772415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S1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058787722" name="Текст 15"/>
          <p:cNvSpPr>
            <a:spLocks noGrp="1"/>
          </p:cNvSpPr>
          <p:nvPr>
            <p:ph type="body" sz="quarter" idx="50"/>
          </p:nvPr>
        </p:nvSpPr>
        <p:spPr bwMode="auto">
          <a:xfrm>
            <a:off x="3449944" y="1766200"/>
            <a:ext cx="771003" cy="403756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S2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56729640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456363" y="1766043"/>
            <a:ext cx="771003" cy="403913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03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66193093" name="Текст 17"/>
          <p:cNvSpPr>
            <a:spLocks noGrp="1"/>
          </p:cNvSpPr>
          <p:nvPr>
            <p:ph type="body" sz="quarter" idx="52"/>
          </p:nvPr>
        </p:nvSpPr>
        <p:spPr bwMode="auto">
          <a:xfrm>
            <a:off x="9407534" y="1772415"/>
            <a:ext cx="771003" cy="423628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8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Неизменённый эталон «Закупка к запуску»: обычная сложность, нейтральный тон, директор продаж, оборотные средства.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Вопрос про логистику → признание экономии на разделении партии → довод → вопрос про оплату → пакет 95 / 40% на день 7 и остаток на 14 / предоплата 50%.</a:t>
            </a:r>
          </a:p>
          <a:p>
            <a:pPr/>
            <a:r>
              <a:rPr>
                <a:solidFill>
                  <a:srgbClr val="1C1D22"/>
                </a:solidFill>
              </a:rPr>
              <a:t>Исход: взаимная выгода. Учебная полезность 64. Процесс 100.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Тот же эталон. Сначала тот же пакет, затем вопросы, затем явный выход из переговоров.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Исход: нет соглашения. Полезность сделки не считается. Процесс 70. Зачёт взаимно приемлемого пакета сохраняется.</a:t>
            </a:r>
            <a:endParaRPr lang="ru-RU" sz="1400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Отказ — отдельный ход игрока, а не следствие порядка вопросов.</a:t>
            </a: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ДВА ИСХОДА ОДНОГО ЭТАЛОНА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Попытка А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Попытка Б</a:t>
            </a:r>
            <a:endParaRPr/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2374930" name="Скругленный прямоугольник 2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063858071" name="Рисунок 11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1002487053" name="Номер слайда 6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9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1349680954" name="Текст 3"/>
          <p:cNvSpPr>
            <a:spLocks noGrp="1"/>
          </p:cNvSpPr>
          <p:nvPr>
            <p:ph type="body" sz="quarter" idx="15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Проверка «выполнено» со ссылкой «Ход 5 — открыть сохранённый момент».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06312520" name="Текст 4"/>
          <p:cNvSpPr>
            <a:spLocks noGrp="1"/>
          </p:cNvSpPr>
          <p:nvPr>
            <p:ph type="body" sz="quarter" idx="16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Сохранённая фраза пакета: 95 / 40% на день 7, остаток на 14 / предоплата 50%.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717055530" name="Текст 5"/>
          <p:cNvSpPr>
            <a:spLocks noGrp="1"/>
          </p:cNvSpPr>
          <p:nvPr>
            <p:ph type="body" sz="quarter" idx="17"/>
          </p:nvPr>
        </p:nvSpPr>
        <p:spPr bwMode="auto"/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Если наблюдений мало или нет явной подготовки, общий балл процесса не выводится.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31972957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РАЗБОР ПО ХОДАМ</a:t>
            </a:r>
            <a:endParaRPr lang="ru-RU"/>
          </a:p>
        </p:txBody>
      </p:sp>
      <p:pic>
        <p:nvPicPr>
          <p:cNvPr id="1717055531" name="Picture 1717055530" descr="evide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0057" y="1187395"/>
            <a:ext cx="2165624" cy="3000292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743221" name="Прямоугольник 29"/>
          <p:cNvSpPr/>
          <p:nvPr/>
        </p:nvSpPr>
        <p:spPr bwMode="auto"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414389" name="Объект 28"/>
          <p:cNvSpPr>
            <a:spLocks noGrp="1"/>
          </p:cNvSpPr>
          <p:nvPr>
            <p:ph idx="1"/>
          </p:nvPr>
        </p:nvSpPr>
        <p:spPr bwMode="auto">
          <a:xfrm>
            <a:off x="521133" y="1263123"/>
            <a:ext cx="5574868" cy="4937652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100 из 100 — применимые проверки этой записи, не оценка компетенции человека.</a:t>
            </a:r>
            <a:endParaRPr lang="ru-RU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Отказ не равен провалу процесса: попытка Б без соглашения получила процесс 70.</a:t>
            </a:r>
          </a:p>
          <a:p>
            <a:pPr/>
            <a:r>
              <a:rPr>
                <a:solidFill>
                  <a:srgbClr val="1C1D22"/>
                </a:solidFill>
              </a:rPr>
              <a:t>Слабое соглашение в семье нагрузки: учебная полезность 20, процесс 44,12.</a:t>
            </a:r>
          </a:p>
          <a:p>
            <a:pPr/>
            <a:r>
              <a:rPr>
                <a:solidFill>
                  <a:srgbClr val="1C1D22"/>
                </a:solidFill>
              </a:rPr>
              <a:t>Администратор не читает чужие отчёты. Наставник обсуждает разбор на экране игрока.</a:t>
            </a:r>
          </a:p>
        </p:txBody>
      </p:sp>
      <p:sp>
        <p:nvSpPr>
          <p:cNvPr id="5641896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10</a:t>
            </a:fld>
            <a:endParaRPr lang="ru-RU"/>
          </a:p>
        </p:txBody>
      </p:sp>
      <p:sp>
        <p:nvSpPr>
          <p:cNvPr id="1551786739" name="Заголовок 27"/>
          <p:cNvSpPr>
            <a:spLocks noGrp="1"/>
          </p:cNvSpPr>
          <p:nvPr>
            <p:ph type="title"/>
          </p:nvPr>
        </p:nvSpPr>
        <p:spPr bwMode="auto">
          <a:xfrm>
            <a:off x="527444" y="395288"/>
            <a:ext cx="5574868" cy="425729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310F53"/>
                </a:solidFill>
              </a:rPr>
              <a:t>Это не тест на 100 баллов</a:t>
            </a:r>
            <a:endParaRPr lang="ru-RU" sz="2000">
              <a:solidFill>
                <a:schemeClr val="accent5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Целевой сегмент: HR / L&amp;D, начинающий закупщик и руководитель в обучении.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Пилотов, договоров и названных клиентов нет.</a:t>
            </a:r>
          </a:p>
          <a:p>
            <a:pPr/>
            <a:r>
              <a:rPr>
                <a:solidFill>
                  <a:srgbClr val="1C1D22"/>
                </a:solidFill>
              </a:rPr>
              <a:t>ОЭЗ «Алабуга» — постановщик кейса хакатона, не клиент продукта.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Гипотеза пользы: безопасные попытки дешевле ошибки на реальной встрече.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Измеренного ROI, выручки и воронки нет — цифры не выдуманы.</a:t>
            </a:r>
            <a:endParaRPr lang="ru-RU" sz="1400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Файла LICENSE в репозитории нет. Это решение владельца, не дисквалификация из PDF кейса.</a:t>
            </a: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КОМУ И КАКАЯ ГИПОТЕЗА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Маркетинг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Бизнес</a:t>
            </a:r>
            <a:endParaRPr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166929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024000" name="Скругленный прямоугольник 7"/>
          <p:cNvSpPr/>
          <p:nvPr/>
        </p:nvSpPr>
        <p:spPr bwMode="auto"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338103714" name="Скругленный прямоугольник 9"/>
          <p:cNvSpPr/>
          <p:nvPr/>
        </p:nvSpPr>
        <p:spPr bwMode="auto"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1117071046" name="Скругленный прямоугольник 10"/>
          <p:cNvSpPr/>
          <p:nvPr/>
        </p:nvSpPr>
        <p:spPr bwMode="auto"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tx1"/>
              </a:solidFill>
            </a:endParaRPr>
          </a:p>
        </p:txBody>
      </p:sp>
      <p:sp>
        <p:nvSpPr>
          <p:cNvPr id="65608873" name="Скругленный прямоугольник 1"/>
          <p:cNvSpPr/>
          <p:nvPr/>
        </p:nvSpPr>
        <p:spPr bwMode="auto"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89876433" name="Скругленный прямоугольник 16"/>
          <p:cNvSpPr/>
          <p:nvPr/>
        </p:nvSpPr>
        <p:spPr bwMode="auto">
          <a:xfrm>
            <a:off x="5340262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7816448" name="Скругленный прямоугольник 6"/>
          <p:cNvSpPr/>
          <p:nvPr/>
        </p:nvSpPr>
        <p:spPr bwMode="auto">
          <a:xfrm>
            <a:off x="1541018" y="1366572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72097255" name="Номер слайда 5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12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741933057" name="Текст 2"/>
          <p:cNvSpPr>
            <a:spLocks noGrp="1"/>
          </p:cNvSpPr>
          <p:nvPr>
            <p:ph type="body" sz="quarter" idx="26"/>
          </p:nvPr>
        </p:nvSpPr>
        <p:spPr bwMode="auto"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Браузер. Один origin: Fastify + React. Показ слушает 127.0.0.1. Регистрации игрока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579676049" name="Текст 3"/>
          <p:cNvSpPr>
            <a:spLocks noGrp="1"/>
          </p:cNvSpPr>
          <p:nvPr>
            <p:ph type="body" sz="quarter" idx="31"/>
          </p:nvPr>
        </p:nvSpPr>
        <p:spPr bwMode="auto"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Учебный движок считает допустимость, раскрытие фактов и полезность. Модель, CUDA и платный API для игры не нужны.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97765126" name="Текст 4"/>
          <p:cNvSpPr>
            <a:spLocks noGrp="1"/>
          </p:cNvSpPr>
          <p:nvPr>
            <p:ph type="body" sz="quarter" idx="32"/>
          </p:nvPr>
        </p:nvSpPr>
        <p:spPr bwMode="auto"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SQLite хранит публикации и попытки. Администратор не обходит границу чужих отчётов.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1656586775" name="Google Shape;2799;p94"/>
          <p:cNvCxnSpPr/>
          <p:nvPr/>
        </p:nvCxnSpPr>
        <p:spPr bwMode="auto"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5845957" name="Google Shape;2829;p94"/>
          <p:cNvGrpSpPr/>
          <p:nvPr/>
        </p:nvGrpSpPr>
        <p:grpSpPr bwMode="auto">
          <a:xfrm>
            <a:off x="1899087" y="1753233"/>
            <a:ext cx="738531" cy="687909"/>
            <a:chOff x="3385733" y="2233242"/>
            <a:chExt cx="340504" cy="319542"/>
          </a:xfrm>
        </p:grpSpPr>
        <p:sp>
          <p:nvSpPr>
            <p:cNvPr id="63" name="Google Shape;2830;p94"/>
            <p:cNvSpPr/>
            <p:nvPr/>
          </p:nvSpPr>
          <p:spPr bwMode="auto">
            <a:xfrm>
              <a:off x="3385733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4" name="Google Shape;2831;p94"/>
            <p:cNvSpPr/>
            <p:nvPr/>
          </p:nvSpPr>
          <p:spPr bwMode="auto">
            <a:xfrm>
              <a:off x="3420988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5" name="Google Shape;2832;p94"/>
            <p:cNvSpPr/>
            <p:nvPr/>
          </p:nvSpPr>
          <p:spPr bwMode="auto"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6" name="Google Shape;2833;p94"/>
            <p:cNvSpPr/>
            <p:nvPr/>
          </p:nvSpPr>
          <p:spPr bwMode="auto"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7" name="Google Shape;2834;p94"/>
            <p:cNvSpPr/>
            <p:nvPr/>
          </p:nvSpPr>
          <p:spPr bwMode="auto"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8" name="Google Shape;2835;p94"/>
            <p:cNvSpPr/>
            <p:nvPr/>
          </p:nvSpPr>
          <p:spPr bwMode="auto">
            <a:xfrm>
              <a:off x="3420988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69" name="Google Shape;2836;p94"/>
            <p:cNvSpPr/>
            <p:nvPr/>
          </p:nvSpPr>
          <p:spPr bwMode="auto">
            <a:xfrm>
              <a:off x="3420988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0" name="Google Shape;2837;p94"/>
            <p:cNvSpPr/>
            <p:nvPr/>
          </p:nvSpPr>
          <p:spPr bwMode="auto"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1" name="Google Shape;2838;p94"/>
            <p:cNvSpPr/>
            <p:nvPr/>
          </p:nvSpPr>
          <p:spPr bwMode="auto"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2" name="Google Shape;2839;p94"/>
            <p:cNvSpPr/>
            <p:nvPr/>
          </p:nvSpPr>
          <p:spPr bwMode="auto"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3" name="Google Shape;2840;p94"/>
            <p:cNvSpPr/>
            <p:nvPr/>
          </p:nvSpPr>
          <p:spPr bwMode="auto"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4" name="Google Shape;2841;p94"/>
            <p:cNvSpPr/>
            <p:nvPr/>
          </p:nvSpPr>
          <p:spPr bwMode="auto"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5" name="Google Shape;2842;p94"/>
            <p:cNvSpPr/>
            <p:nvPr/>
          </p:nvSpPr>
          <p:spPr bwMode="auto">
            <a:xfrm>
              <a:off x="3646108" y="2379063"/>
              <a:ext cx="19275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76" name="Google Shape;2843;p94"/>
            <p:cNvSpPr/>
            <p:nvPr/>
          </p:nvSpPr>
          <p:spPr bwMode="auto"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325953379" name="Google Shape;2818;p94"/>
          <p:cNvGrpSpPr/>
          <p:nvPr/>
        </p:nvGrpSpPr>
        <p:grpSpPr bwMode="auto"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/>
            <p:cNvSpPr/>
            <p:nvPr/>
          </p:nvSpPr>
          <p:spPr bwMode="auto"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5" name="Google Shape;2820;p94"/>
            <p:cNvSpPr/>
            <p:nvPr/>
          </p:nvSpPr>
          <p:spPr bwMode="auto"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6" name="Google Shape;2821;p94"/>
            <p:cNvSpPr/>
            <p:nvPr/>
          </p:nvSpPr>
          <p:spPr bwMode="auto"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7" name="Google Shape;2822;p94"/>
            <p:cNvSpPr/>
            <p:nvPr/>
          </p:nvSpPr>
          <p:spPr bwMode="auto"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8" name="Google Shape;2823;p94"/>
            <p:cNvSpPr/>
            <p:nvPr/>
          </p:nvSpPr>
          <p:spPr bwMode="auto"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89" name="Google Shape;2824;p94"/>
            <p:cNvSpPr/>
            <p:nvPr/>
          </p:nvSpPr>
          <p:spPr bwMode="auto"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0" name="Google Shape;2825;p94"/>
            <p:cNvSpPr/>
            <p:nvPr/>
          </p:nvSpPr>
          <p:spPr bwMode="auto"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1" name="Google Shape;2826;p94"/>
            <p:cNvSpPr/>
            <p:nvPr/>
          </p:nvSpPr>
          <p:spPr bwMode="auto"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2" name="Google Shape;2827;p94"/>
            <p:cNvSpPr/>
            <p:nvPr/>
          </p:nvSpPr>
          <p:spPr bwMode="auto"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grpSp>
        <p:nvGrpSpPr>
          <p:cNvPr id="1555711401" name="Google Shape;2805;p94"/>
          <p:cNvGrpSpPr/>
          <p:nvPr/>
        </p:nvGrpSpPr>
        <p:grpSpPr bwMode="auto"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/>
            <p:cNvSpPr/>
            <p:nvPr/>
          </p:nvSpPr>
          <p:spPr bwMode="auto"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99" name="Google Shape;2807;p94"/>
            <p:cNvSpPr/>
            <p:nvPr/>
          </p:nvSpPr>
          <p:spPr bwMode="auto"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0" name="Google Shape;2808;p94"/>
            <p:cNvSpPr/>
            <p:nvPr/>
          </p:nvSpPr>
          <p:spPr bwMode="auto"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1" name="Google Shape;2809;p94"/>
            <p:cNvSpPr/>
            <p:nvPr/>
          </p:nvSpPr>
          <p:spPr bwMode="auto"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2" name="Google Shape;2810;p94"/>
            <p:cNvSpPr/>
            <p:nvPr/>
          </p:nvSpPr>
          <p:spPr bwMode="auto"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3" name="Google Shape;2811;p94"/>
            <p:cNvSpPr/>
            <p:nvPr/>
          </p:nvSpPr>
          <p:spPr bwMode="auto"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4" name="Google Shape;2812;p94"/>
            <p:cNvSpPr/>
            <p:nvPr/>
          </p:nvSpPr>
          <p:spPr bwMode="auto"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5" name="Google Shape;2813;p94"/>
            <p:cNvSpPr/>
            <p:nvPr/>
          </p:nvSpPr>
          <p:spPr bwMode="auto">
            <a:xfrm>
              <a:off x="4789296" y="2294680"/>
              <a:ext cx="168266" cy="172068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6" name="Google Shape;2814;p94"/>
            <p:cNvSpPr/>
            <p:nvPr/>
          </p:nvSpPr>
          <p:spPr bwMode="auto"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7" name="Google Shape;2815;p94"/>
            <p:cNvSpPr/>
            <p:nvPr/>
          </p:nvSpPr>
          <p:spPr bwMode="auto">
            <a:xfrm>
              <a:off x="4883051" y="2382744"/>
              <a:ext cx="24052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  <p:sp>
          <p:nvSpPr>
            <p:cNvPr id="108" name="Google Shape;2816;p94"/>
            <p:cNvSpPr/>
            <p:nvPr/>
          </p:nvSpPr>
          <p:spPr bwMode="auto"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2400"/>
            </a:p>
          </p:txBody>
        </p:sp>
      </p:grpSp>
      <p:sp>
        <p:nvSpPr>
          <p:cNvPr id="812483655" name="Скругленный прямоугольник 17"/>
          <p:cNvSpPr/>
          <p:nvPr/>
        </p:nvSpPr>
        <p:spPr bwMode="auto">
          <a:xfrm>
            <a:off x="9337010" y="1396603"/>
            <a:ext cx="1504594" cy="1401168"/>
          </a:xfrm>
          <a:prstGeom prst="roundRect">
            <a:avLst>
              <a:gd name="adj" fmla="val 16667"/>
            </a:avLst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5959615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21226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t>КАК УСТРОЕНО</a:t>
            </a:r>
            <a:endParaRPr lang="ru-RU"/>
          </a:p>
        </p:txBody>
      </p:sp>
      <p:cxnSp>
        <p:nvCxnSpPr>
          <p:cNvPr id="394650640" name="Google Shape;2799;p94"/>
          <p:cNvCxnSpPr/>
          <p:nvPr/>
        </p:nvCxnSpPr>
        <p:spPr bwMode="auto"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67983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8762536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12673551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368693620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13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99543504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Выбор действий, две семьи, шесть полей, последствия, разбор, повторная попытка.</a:t>
            </a:r>
            <a:endParaRPr/>
          </a:p>
          <a:p>
            <a:pPr/>
            <a:r>
              <a:rPr>
                <a:solidFill>
                  <a:srgbClr val="1C1D22"/>
                </a:solidFill>
              </a:rPr>
              <a:t>Локальный запуск на Windows без модели и ключа API.</a:t>
            </a:r>
          </a:p>
          <a:p>
            <a:pPr/>
            <a:r>
              <a:rPr>
                <a:solidFill>
                  <a:srgbClr val="1C1D22"/>
                </a:solidFill>
              </a:rPr>
              <a:t>Команды Prepare и Start — отдельно от Stop. Адрес после запуска: http://127.0.0.1:3100/admin на том компьютере.</a:t>
            </a:r>
          </a:p>
        </p:txBody>
      </p:sp>
      <p:sp>
        <p:nvSpPr>
          <p:cNvPr id="68555165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rgbClr val="1C1D22"/>
                </a:solidFill>
              </a:rPr>
              <a:t>Свободный текст, AI-оппонент, генерация сценария моделью.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/>
            </a:r>
            <a:endParaRPr/>
          </a:p>
          <a:p>
            <a:pPr marL="0" indent="0">
              <a:buNone/>
              <a:defRPr/>
            </a:pPr>
            <a:r>
              <a:rPr>
                <a:solidFill>
                  <a:srgbClr val="1C1D22"/>
                </a:solidFill>
              </a:rPr>
              <a:t>Qwen не встроена и по качеству не проверена.</a:t>
            </a:r>
            <a:endParaRPr lang="ru-RU" sz="1400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Публичного сайта нет. 127.0.0.1 не является ссылкой для формы хакатона.</a:t>
            </a:r>
          </a:p>
        </p:txBody>
      </p:sp>
      <p:sp>
        <p:nvSpPr>
          <p:cNvPr id="604769426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 wrap="square"/>
          <a:lstStyle/>
          <a:p>
            <a:pPr>
              <a:defRPr/>
            </a:pPr>
            <a:r>
              <a:rPr lang="ru-RU"/>
              <a:t>СЕЙЧАС И ДАЛЬШЕ</a:t>
            </a:r>
            <a:endParaRPr/>
          </a:p>
        </p:txBody>
      </p:sp>
      <p:sp>
        <p:nvSpPr>
          <p:cNvPr id="1590170897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Работает сейчас</a:t>
            </a:r>
            <a:endParaRPr/>
          </a:p>
        </p:txBody>
      </p:sp>
      <p:sp>
        <p:nvSpPr>
          <p:cNvPr id="598315152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 wrap="square"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rgbClr val="310F53"/>
                </a:solidFill>
              </a:rPr>
              <a:t>Не в этом демо</a:t>
            </a:r>
            <a:endParaRPr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465249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blipFill rotWithShape="1">
          <a:blip r:embed="rId4">
            <a:lum/>
          </a:blip>
          <a:stretch/>
        </a:blip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2617603" name="Скругленный прямоугольник 3"/>
          <p:cNvSpPr/>
          <p:nvPr/>
        </p:nvSpPr>
        <p:spPr bwMode="auto"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11054005" name="Объект 2"/>
          <p:cNvSpPr>
            <a:spLocks noGrp="1"/>
          </p:cNvSpPr>
          <p:nvPr>
            <p:ph idx="1"/>
          </p:nvPr>
        </p:nvSpPr>
        <p:spPr bwMode="auto">
          <a:xfrm>
            <a:off x="623888" y="1556279"/>
            <a:ext cx="10789619" cy="3745441"/>
          </a:xfrm>
        </p:spPr>
        <p:txBody>
          <a:bodyPr wrap="square"/>
          <a:lstStyle/>
          <a:p>
            <a:pPr>
              <a:defRPr/>
            </a:pPr>
            <a:r>
              <a:rPr>
                <a:solidFill>
                  <a:srgbClr val="1C1D22"/>
                </a:solidFill>
              </a:rPr>
              <a:t>Один вход в поставку: docs/submission/README.md</a:t>
            </a:r>
            <a:endParaRPr lang="ru-RU">
              <a:solidFill>
                <a:schemeClr val="tx1"/>
              </a:solidFill>
            </a:endParaRPr>
          </a:p>
          <a:p>
            <a:pPr/>
            <a:r>
              <a:rPr>
                <a:solidFill>
                  <a:srgbClr val="1C1D22"/>
                </a:solidFill>
              </a:rPr>
              <a:t>Четыре поля формы (исходники, прототип, презентация, документация) — неизменяемые адреса коммита в docs/submission/FORM_LINKS_RU.md.</a:t>
            </a:r>
          </a:p>
          <a:p>
            <a:pPr/>
            <a:r>
              <a:rPr>
                <a:solidFill>
                  <a:srgbClr val="1C1D22"/>
                </a:solidFill>
              </a:rPr>
              <a:t>Прототип: локальный запуск по docs/DEMO_GUIDE_RU.md, не публичный сайт.</a:t>
            </a:r>
          </a:p>
          <a:p>
            <a:pPr/>
            <a:r>
              <a:rPr>
                <a:solidFill>
                  <a:srgbClr val="1C1D22"/>
                </a:solidFill>
              </a:rPr>
              <a:t>Команда «Ходоки». Состав, контакты и логотип в материалах не подтверждены — см. docs/submission/ACTION_REQUIRED_FROM_OWNER_RU.md.</a:t>
            </a:r>
          </a:p>
          <a:p>
            <a:r>
              <a:rPr>
                <a:solidFill>
                  <a:srgbClr val="FC3777"/>
                </a:solidFill>
                <a:hlinkClick r:id="rId5"/>
              </a:rPr>
              <a:t>Репозиторий TalkNFace на GitHub</a:t>
            </a:r>
          </a:p>
        </p:txBody>
      </p:sp>
      <p:sp>
        <p:nvSpPr>
          <p:cNvPr id="1126712022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14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266458526" name="Заголовок 1"/>
          <p:cNvSpPr>
            <a:spLocks noGrp="1"/>
          </p:cNvSpPr>
          <p:nvPr>
            <p:ph type="title"/>
          </p:nvPr>
        </p:nvSpPr>
        <p:spPr bwMode="auto">
          <a:xfrm>
            <a:off x="533104" y="414049"/>
            <a:ext cx="5994696" cy="552061"/>
          </a:xfrm>
        </p:spPr>
        <p:txBody>
          <a:bodyPr wrap="square"/>
          <a:lstStyle/>
          <a:p>
            <a:pPr>
              <a:defRPr/>
            </a:pPr>
            <a:r>
              <a:t>Материалы для жюри</a:t>
            </a:r>
            <a:endParaRPr lang="ru-RU" sz="3600">
              <a:solidFill>
                <a:schemeClr val="bg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am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embers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problem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journe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settings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families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attempts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evidenc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quiz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arketin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tech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next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OLE" val="materials"/>
</p:tagLst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222</Words>
  <Application>Microsoft Office PowerPoint</Application>
  <PresentationFormat>Широкоэкранный</PresentationFormat>
  <Paragraphs>64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Montserrat</vt:lpstr>
      <vt:lpstr>Wingdings</vt:lpstr>
      <vt:lpstr>Для Академия инноваторов 16_9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КОРОТКО О РЕШЕНИИ</vt:lpstr>
      <vt:lpstr>Презентация PowerPoint</vt:lpstr>
      <vt:lpstr>КОРОТКО О РЕШЕНИИ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Булат Садыков</cp:lastModifiedBy>
  <cp:revision>97</cp:revision>
  <dcterms:created xsi:type="dcterms:W3CDTF">2023-05-15T07:36:23Z</dcterms:created>
  <dcterms:modified xsi:type="dcterms:W3CDTF">2026-09-29T20:05:08Z</dcterms:modified>
</cp:coreProperties>
</file>